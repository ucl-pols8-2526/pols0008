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52"/>
  </p:notesMasterIdLst>
  <p:sldIdLst>
    <p:sldId id="420" r:id="rId3"/>
    <p:sldId id="1304" r:id="rId4"/>
    <p:sldId id="1289" r:id="rId5"/>
    <p:sldId id="1291" r:id="rId6"/>
    <p:sldId id="1292" r:id="rId7"/>
    <p:sldId id="1330" r:id="rId8"/>
    <p:sldId id="456" r:id="rId9"/>
    <p:sldId id="1341" r:id="rId10"/>
    <p:sldId id="1345" r:id="rId11"/>
    <p:sldId id="1346" r:id="rId12"/>
    <p:sldId id="1294" r:id="rId13"/>
    <p:sldId id="1296" r:id="rId14"/>
    <p:sldId id="1360" r:id="rId15"/>
    <p:sldId id="1313" r:id="rId16"/>
    <p:sldId id="1302" r:id="rId17"/>
    <p:sldId id="1297" r:id="rId18"/>
    <p:sldId id="275" r:id="rId19"/>
    <p:sldId id="342" r:id="rId20"/>
    <p:sldId id="276" r:id="rId21"/>
    <p:sldId id="343" r:id="rId22"/>
    <p:sldId id="277" r:id="rId23"/>
    <p:sldId id="278" r:id="rId24"/>
    <p:sldId id="1303" r:id="rId25"/>
    <p:sldId id="1298" r:id="rId26"/>
    <p:sldId id="282" r:id="rId27"/>
    <p:sldId id="284" r:id="rId28"/>
    <p:sldId id="344" r:id="rId29"/>
    <p:sldId id="1299" r:id="rId30"/>
    <p:sldId id="1356" r:id="rId31"/>
    <p:sldId id="289" r:id="rId32"/>
    <p:sldId id="293" r:id="rId33"/>
    <p:sldId id="346" r:id="rId34"/>
    <p:sldId id="345" r:id="rId35"/>
    <p:sldId id="347" r:id="rId36"/>
    <p:sldId id="348" r:id="rId37"/>
    <p:sldId id="349" r:id="rId38"/>
    <p:sldId id="350" r:id="rId39"/>
    <p:sldId id="352" r:id="rId40"/>
    <p:sldId id="1351" r:id="rId41"/>
    <p:sldId id="1348" r:id="rId42"/>
    <p:sldId id="1349" r:id="rId43"/>
    <p:sldId id="1358" r:id="rId44"/>
    <p:sldId id="1350" r:id="rId45"/>
    <p:sldId id="1352" r:id="rId46"/>
    <p:sldId id="1353" r:id="rId47"/>
    <p:sldId id="1354" r:id="rId48"/>
    <p:sldId id="1357" r:id="rId49"/>
    <p:sldId id="1359" r:id="rId50"/>
    <p:sldId id="1347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38" userDrawn="1">
          <p15:clr>
            <a:srgbClr val="A4A3A4"/>
          </p15:clr>
        </p15:guide>
        <p15:guide id="2" pos="7446" userDrawn="1">
          <p15:clr>
            <a:srgbClr val="A4A3A4"/>
          </p15:clr>
        </p15:guide>
        <p15:guide id="3" orient="horz" pos="1230" userDrawn="1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500"/>
    <a:srgbClr val="008CE6"/>
    <a:srgbClr val="00B0F0"/>
    <a:srgbClr val="009193"/>
    <a:srgbClr val="000000"/>
    <a:srgbClr val="D6D6D6"/>
    <a:srgbClr val="385723"/>
    <a:srgbClr val="92D050"/>
    <a:srgbClr val="F6E316"/>
    <a:srgbClr val="FF3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91"/>
    <p:restoredTop sz="95890"/>
  </p:normalViewPr>
  <p:slideViewPr>
    <p:cSldViewPr snapToGrid="0" snapToObjects="1">
      <p:cViewPr varScale="1">
        <p:scale>
          <a:sx n="109" d="100"/>
          <a:sy n="109" d="100"/>
        </p:scale>
        <p:origin x="888" y="184"/>
      </p:cViewPr>
      <p:guideLst>
        <p:guide pos="438"/>
        <p:guide pos="7446"/>
        <p:guide orient="horz" pos="1230"/>
        <p:guide orient="horz" pos="754"/>
        <p:guide orient="horz" pos="399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9E245-271D-FD48-BFBB-D05CACE4EE11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2181B-723A-0945-8D8D-6A6BB0D8F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8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usinessdictionary.com/definition/bottom.html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usinessdictionary.com/definition/bottom.html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statisticshowto.com/middle-fifty/" TargetMode="Externa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Welcome to week two's lecture – examining data (part 1).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We are going to learn more further methods for summarising data using measures for central tendency – central tendency measures are values used to indicate where the </a:t>
            </a:r>
            <a:r>
              <a:rPr lang="en-GB" dirty="0" err="1"/>
              <a:t>center</a:t>
            </a:r>
            <a:r>
              <a:rPr lang="en-GB" dirty="0"/>
              <a:t>  is in your dataset.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These measures are very useful as they are the most basic way to </a:t>
            </a:r>
            <a:r>
              <a:rPr lang="en-US" dirty="0" err="1"/>
              <a:t>summarise</a:t>
            </a:r>
            <a:r>
              <a:rPr lang="en-US" dirty="0"/>
              <a:t> data set with a single value.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96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But before we start, let’s do a quick recap on stuff we learnt last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73DE8-1EC7-9C41-B6BA-DB20899CA618}" type="slidenum">
              <a:rPr lang="en-US" altLang="x-none" smtClean="0"/>
              <a:pPr/>
              <a:t>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876584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17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/>
              <a:t>We use the term "Population” to simply refer all data points (i.e., all members/subjects/items) under consideration for an analysis. Note that its impossible to have information about all members, or units of population, and therefore we collect a sample. The term sample is basically a subset of members/subjects/items selected for study that’s representative of the population its from.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03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parameter is any measured quantity of a statistical population that summarises or describes an aspect of the “population”</a:t>
            </a:r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statistic or estimate is a numerical summary is any measured quantity of a statistical population that summarises or describes an aspect of the “population”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18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variable can anything – its an attribute that describes data points of a sample – this can be person, place, thing or idea. </a:t>
            </a:r>
            <a:r>
              <a:rPr lang="en-GB" sz="13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value of the variable can "vary" or change from one entity (i.e., </a:t>
            </a:r>
            <a:r>
              <a:rPr lang="en-GB" dirty="0"/>
              <a:t>person, place, thing or idea)</a:t>
            </a:r>
            <a:r>
              <a:rPr lang="en-GB" sz="13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another.</a:t>
            </a:r>
          </a:p>
          <a:p>
            <a:endParaRPr lang="en-GB" sz="13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3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variable can classified continuous or categorical – the former is quantitative and latter qualitative.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0400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500" dirty="0">
                <a:latin typeface="Calibri" pitchFamily="34" charset="0"/>
                <a:ea typeface="ＭＳ Ｐゴシック" pitchFamily="34" charset="-128"/>
              </a:rPr>
              <a:t>Descriptive statistics are not used to make inferences to the population</a:t>
            </a:r>
            <a:endParaRPr lang="en-US" sz="2500" dirty="0">
              <a:latin typeface="Calibri" pitchFamily="34" charset="0"/>
              <a:ea typeface="ＭＳ Ｐゴシック" pitchFamily="34" charset="-128"/>
            </a:endParaRPr>
          </a:p>
          <a:p>
            <a:r>
              <a:rPr lang="en-US" sz="2500" dirty="0">
                <a:latin typeface="Calibri" pitchFamily="34" charset="0"/>
                <a:ea typeface="ＭＳ Ｐゴシック" pitchFamily="34" charset="-128"/>
              </a:rPr>
              <a:t>Descriptive statistics (including frequency distributions) are a good way to get a first glimpse at data</a:t>
            </a:r>
          </a:p>
          <a:p>
            <a:r>
              <a:rPr lang="en-US" sz="2500" dirty="0">
                <a:latin typeface="Calibri" pitchFamily="34" charset="0"/>
                <a:ea typeface="ＭＳ Ｐゴシック" pitchFamily="34" charset="-128"/>
              </a:rPr>
              <a:t>Not very powerful in terms of analysis</a:t>
            </a:r>
          </a:p>
          <a:p>
            <a:r>
              <a:rPr lang="en-US" sz="2500" dirty="0">
                <a:latin typeface="Calibri" pitchFamily="34" charset="0"/>
                <a:ea typeface="ＭＳ Ｐゴシック" pitchFamily="34" charset="-128"/>
              </a:rPr>
              <a:t>Are a good place to start when you come across a new set of data</a:t>
            </a:r>
          </a:p>
          <a:p>
            <a:r>
              <a:rPr lang="en-US" sz="2500" dirty="0">
                <a:latin typeface="Calibri" pitchFamily="34" charset="0"/>
                <a:ea typeface="ＭＳ Ｐゴシック" pitchFamily="34" charset="-128"/>
              </a:rPr>
              <a:t>Best used as complements to other forms of analysis</a:t>
            </a:r>
          </a:p>
          <a:p>
            <a:pPr lvl="1"/>
            <a:r>
              <a:rPr lang="en-US" sz="1900" dirty="0">
                <a:latin typeface="Calibri" pitchFamily="34" charset="0"/>
                <a:ea typeface="ＭＳ Ｐゴシック" pitchFamily="34" charset="-128"/>
              </a:rPr>
              <a:t>Can be used for some qualitative work like case studies or to look at a larger pattern when investigating a micro-level phenomenon</a:t>
            </a:r>
          </a:p>
          <a:p>
            <a:pPr lvl="1"/>
            <a:r>
              <a:rPr lang="en-US" sz="1900" dirty="0">
                <a:latin typeface="Calibri" pitchFamily="34" charset="0"/>
                <a:ea typeface="ＭＳ Ｐゴシック" pitchFamily="34" charset="-128"/>
              </a:rPr>
              <a:t>Can be used with other forms of quantitative analysis to provide introductory remarks or support the forms of analysis being used</a:t>
            </a:r>
            <a:r>
              <a:rPr lang="en-US" sz="2100" dirty="0">
                <a:latin typeface="Calibri" pitchFamily="34" charset="0"/>
                <a:ea typeface="ＭＳ Ｐゴシック" pitchFamily="34" charset="-128"/>
              </a:rPr>
              <a:t>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97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73DE8-1EC7-9C41-B6BA-DB20899CA618}" type="slidenum">
              <a:rPr lang="en-US" altLang="x-none" smtClean="0"/>
              <a:pPr/>
              <a:t>11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8924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When performing descriptive statistics using summary measures – you need to consider the type of variables you going to analyse…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If its categorical (i.e., nominal or ordinal) – then its to consider using the frequency distributions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However, if the variables are numerical (i.e., interval or ratio) – then you should compute the central tendency and dispersion measures to describe and summarise your dataset.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65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Alright now… let’s begin lectures now!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73DE8-1EC7-9C41-B6BA-DB20899CA618}" type="slidenum">
              <a:rPr lang="en-US" altLang="x-none" smtClean="0"/>
              <a:pPr/>
              <a:t>14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561807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When dealing with numerical/continuous data for summary statistics - two important questions you probably ask about variables in our dataset: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1.) What single estimate can I compute to best describe my data? For example, you have collected the stats marks recorded as a score out of 100 marks from 50 students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2.) What is the spread of data values around single estimate I have compute?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r>
              <a:rPr lang="en-GB" dirty="0"/>
              <a:t>The answer to our first question i.e., what single number best represent our data, will be some number of central tendency. Now, a central tendency are values that indicate where the centre of the distribution tends to be.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22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Generally, the central tendency of a dataset can be described using the following measures:</a:t>
            </a:r>
          </a:p>
          <a:p>
            <a:endParaRPr lang="en-GB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(Average):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Represents the sum of all values in a dataset divided by the total number of the values.</a:t>
            </a:r>
          </a:p>
          <a:p>
            <a:endParaRPr lang="en-GB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Median: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middle value in a dataset that is arranged in ascending order (from the smallest value to the largest value). If a dataset contains an even number of values, the median of the dataset is the mean of the two middle values.</a:t>
            </a:r>
          </a:p>
          <a:p>
            <a:endParaRPr lang="en-GB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Mode: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Defines the most frequently occurring value in a dataset. In some cases, a dataset may contain multiple modes while some datasets may not have any mode at all.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932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(Average):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Represents the sum of all values in a dataset divided by the total number of the values.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EEABC8-1BC7-C74C-98D9-EC09B460C45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83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032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spc="-5" dirty="0">
                <a:latin typeface="+mn-lt"/>
                <a:cs typeface="Calibri"/>
              </a:rPr>
              <a:t>(n+1)/4</a:t>
            </a:r>
            <a:r>
              <a:rPr lang="en-GB" sz="1200" dirty="0">
                <a:latin typeface="+mn-lt"/>
                <a:cs typeface="Calibri"/>
              </a:rPr>
              <a:t>th </a:t>
            </a:r>
            <a:r>
              <a:rPr lang="en-GB" sz="1200" spc="-10" dirty="0">
                <a:latin typeface="+mn-lt"/>
                <a:cs typeface="Calibri"/>
              </a:rPr>
              <a:t>value </a:t>
            </a:r>
            <a:r>
              <a:rPr lang="en-GB" sz="1200" spc="-5" dirty="0">
                <a:latin typeface="+mn-lt"/>
                <a:cs typeface="Calibri"/>
              </a:rPr>
              <a:t>of </a:t>
            </a:r>
            <a:r>
              <a:rPr lang="en-GB" sz="1200" spc="-15" dirty="0">
                <a:latin typeface="+mn-lt"/>
                <a:cs typeface="Calibri"/>
              </a:rPr>
              <a:t>ordered</a:t>
            </a:r>
            <a:r>
              <a:rPr lang="en-GB" sz="1200" spc="-10" dirty="0">
                <a:latin typeface="+mn-lt"/>
                <a:cs typeface="Calibri"/>
              </a:rPr>
              <a:t> obs.</a:t>
            </a:r>
            <a:endParaRPr lang="en-GB" sz="1200" dirty="0">
              <a:latin typeface="+mn-lt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spc="-20" dirty="0">
                <a:latin typeface="+mn-lt"/>
                <a:cs typeface="Calibri"/>
              </a:rPr>
              <a:t>It’s </a:t>
            </a:r>
            <a:r>
              <a:rPr lang="en-GB" sz="1200" dirty="0">
                <a:latin typeface="+mn-lt"/>
                <a:cs typeface="Calibri"/>
              </a:rPr>
              <a:t>the </a:t>
            </a:r>
            <a:r>
              <a:rPr lang="en-GB" sz="1200" spc="-5" dirty="0">
                <a:latin typeface="+mn-lt"/>
                <a:cs typeface="Calibri"/>
              </a:rPr>
              <a:t>number </a:t>
            </a:r>
            <a:r>
              <a:rPr lang="en-GB" sz="1200" spc="-10" dirty="0">
                <a:latin typeface="+mn-lt"/>
                <a:cs typeface="Calibri"/>
              </a:rPr>
              <a:t>below </a:t>
            </a:r>
            <a:r>
              <a:rPr lang="en-GB" sz="1200" dirty="0">
                <a:latin typeface="+mn-lt"/>
                <a:cs typeface="Calibri"/>
              </a:rPr>
              <a:t>which lies the 25% </a:t>
            </a:r>
            <a:r>
              <a:rPr lang="en-GB" sz="1200" spc="-5" dirty="0">
                <a:latin typeface="+mn-lt"/>
                <a:cs typeface="Calibri"/>
              </a:rPr>
              <a:t>of </a:t>
            </a:r>
            <a:r>
              <a:rPr lang="en-GB" sz="1200" dirty="0">
                <a:latin typeface="+mn-lt"/>
                <a:cs typeface="Calibri"/>
              </a:rPr>
              <a:t>the </a:t>
            </a:r>
            <a:r>
              <a:rPr lang="en-GB" sz="1200" spc="-15" dirty="0">
                <a:uFill>
                  <a:solidFill>
                    <a:srgbClr val="0000FF"/>
                  </a:solidFill>
                </a:uFill>
                <a:latin typeface="+mn-lt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bottom</a:t>
            </a:r>
            <a:r>
              <a:rPr lang="en-GB" sz="1200" spc="-60" dirty="0">
                <a:latin typeface="+mn-lt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200" spc="-15" dirty="0">
                <a:latin typeface="+mn-lt"/>
                <a:cs typeface="Calibri"/>
              </a:rPr>
              <a:t>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spc="-15" dirty="0">
              <a:latin typeface="+mn-lt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spc="-5" dirty="0">
                <a:latin typeface="+mn-lt"/>
                <a:cs typeface="Calibri"/>
              </a:rPr>
              <a:t>Divides </a:t>
            </a:r>
            <a:r>
              <a:rPr lang="en-GB" sz="1200" dirty="0">
                <a:latin typeface="+mn-lt"/>
                <a:cs typeface="Calibri"/>
              </a:rPr>
              <a:t>the </a:t>
            </a:r>
            <a:r>
              <a:rPr lang="en-GB" sz="1200" spc="-20" dirty="0">
                <a:latin typeface="+mn-lt"/>
                <a:cs typeface="Calibri"/>
              </a:rPr>
              <a:t>range </a:t>
            </a:r>
            <a:r>
              <a:rPr lang="en-GB" sz="1200" dirty="0">
                <a:latin typeface="+mn-lt"/>
                <a:cs typeface="Calibri"/>
              </a:rPr>
              <a:t>in the middle &amp; </a:t>
            </a:r>
            <a:r>
              <a:rPr lang="en-GB" sz="1200" spc="-5" dirty="0">
                <a:latin typeface="+mn-lt"/>
                <a:cs typeface="Calibri"/>
              </a:rPr>
              <a:t>has 50% of </a:t>
            </a:r>
            <a:r>
              <a:rPr lang="en-GB" sz="1200" dirty="0">
                <a:latin typeface="+mn-lt"/>
                <a:cs typeface="Calibri"/>
              </a:rPr>
              <a:t>the </a:t>
            </a:r>
            <a:r>
              <a:rPr lang="en-GB" sz="1200" spc="-15" dirty="0">
                <a:latin typeface="+mn-lt"/>
                <a:cs typeface="Calibri"/>
              </a:rPr>
              <a:t>data </a:t>
            </a:r>
            <a:r>
              <a:rPr lang="en-GB" sz="1200" spc="-10" dirty="0">
                <a:latin typeface="+mn-lt"/>
                <a:cs typeface="Calibri"/>
              </a:rPr>
              <a:t>below</a:t>
            </a:r>
            <a:r>
              <a:rPr lang="en-GB" sz="1200" spc="-40" dirty="0">
                <a:latin typeface="+mn-lt"/>
                <a:cs typeface="Calibri"/>
              </a:rPr>
              <a:t> </a:t>
            </a:r>
            <a:r>
              <a:rPr lang="en-GB" sz="1200" dirty="0">
                <a:latin typeface="+mn-lt"/>
                <a:cs typeface="Calibri"/>
              </a:rPr>
              <a:t>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+mn-lt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+mn-lt"/>
                <a:cs typeface="Calibri"/>
              </a:rPr>
              <a:t>3*(n+1)/4th </a:t>
            </a:r>
            <a:r>
              <a:rPr lang="en-GB" sz="1200" spc="-10" dirty="0">
                <a:latin typeface="+mn-lt"/>
                <a:cs typeface="Calibri"/>
              </a:rPr>
              <a:t>value </a:t>
            </a:r>
            <a:r>
              <a:rPr lang="en-GB" sz="1200" spc="-5" dirty="0">
                <a:latin typeface="+mn-lt"/>
                <a:cs typeface="Calibri"/>
              </a:rPr>
              <a:t>of </a:t>
            </a:r>
            <a:r>
              <a:rPr lang="en-GB" sz="1200" spc="-15" dirty="0">
                <a:latin typeface="+mn-lt"/>
                <a:cs typeface="Calibri"/>
              </a:rPr>
              <a:t>ordered</a:t>
            </a:r>
            <a:r>
              <a:rPr lang="en-GB" sz="1200" spc="10" dirty="0">
                <a:latin typeface="+mn-lt"/>
                <a:cs typeface="Calibri"/>
              </a:rPr>
              <a:t> </a:t>
            </a:r>
            <a:r>
              <a:rPr lang="en-GB" sz="1200" spc="-10" dirty="0">
                <a:latin typeface="+mn-lt"/>
                <a:cs typeface="Calibri"/>
              </a:rPr>
              <a:t>obs.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+mn-lt"/>
                <a:cs typeface="Calibri"/>
              </a:rPr>
              <a:t>It </a:t>
            </a:r>
            <a:r>
              <a:rPr lang="en-GB" sz="1200" spc="-5" dirty="0">
                <a:latin typeface="+mn-lt"/>
                <a:cs typeface="Calibri"/>
              </a:rPr>
              <a:t>has 75% </a:t>
            </a:r>
            <a:r>
              <a:rPr lang="en-GB" sz="1200" spc="-10" dirty="0">
                <a:latin typeface="+mn-lt"/>
                <a:cs typeface="Calibri"/>
              </a:rPr>
              <a:t>of </a:t>
            </a:r>
            <a:r>
              <a:rPr lang="en-GB" sz="1200" dirty="0">
                <a:latin typeface="+mn-lt"/>
                <a:cs typeface="Calibri"/>
              </a:rPr>
              <a:t>the </a:t>
            </a:r>
            <a:r>
              <a:rPr lang="en-GB" sz="1200" spc="-15" dirty="0">
                <a:latin typeface="+mn-lt"/>
                <a:cs typeface="Calibri"/>
              </a:rPr>
              <a:t>data </a:t>
            </a:r>
            <a:r>
              <a:rPr lang="en-GB" sz="1200" spc="-10" dirty="0">
                <a:latin typeface="+mn-lt"/>
                <a:cs typeface="Calibri"/>
              </a:rPr>
              <a:t>below </a:t>
            </a:r>
            <a:r>
              <a:rPr lang="en-GB" sz="1200" dirty="0">
                <a:latin typeface="+mn-lt"/>
                <a:cs typeface="Calibri"/>
              </a:rPr>
              <a:t>it &amp; the </a:t>
            </a:r>
            <a:r>
              <a:rPr lang="en-GB" sz="1200" spc="-10" dirty="0">
                <a:latin typeface="+mn-lt"/>
                <a:cs typeface="Calibri"/>
              </a:rPr>
              <a:t>top </a:t>
            </a:r>
            <a:r>
              <a:rPr lang="en-GB" sz="1200" spc="-5" dirty="0">
                <a:latin typeface="+mn-lt"/>
                <a:cs typeface="Calibri"/>
              </a:rPr>
              <a:t>25% of </a:t>
            </a:r>
            <a:r>
              <a:rPr lang="en-GB" sz="1200" dirty="0">
                <a:latin typeface="+mn-lt"/>
                <a:cs typeface="Calibri"/>
              </a:rPr>
              <a:t>the </a:t>
            </a:r>
            <a:r>
              <a:rPr lang="en-GB" sz="1200" spc="-15" dirty="0">
                <a:latin typeface="+mn-lt"/>
                <a:cs typeface="Calibri"/>
              </a:rPr>
              <a:t>data </a:t>
            </a:r>
            <a:r>
              <a:rPr lang="en-GB" sz="1200" spc="-10" dirty="0">
                <a:latin typeface="+mn-lt"/>
                <a:cs typeface="Calibri"/>
              </a:rPr>
              <a:t>above</a:t>
            </a:r>
            <a:r>
              <a:rPr lang="en-GB" sz="1200" spc="-55" dirty="0">
                <a:latin typeface="+mn-lt"/>
                <a:cs typeface="Calibri"/>
              </a:rPr>
              <a:t> </a:t>
            </a:r>
            <a:r>
              <a:rPr lang="en-GB" sz="1200" dirty="0">
                <a:latin typeface="+mn-lt"/>
                <a:cs typeface="Calibri"/>
              </a:rPr>
              <a:t>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+mn-lt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+mn-lt"/>
              <a:cs typeface="Calibri"/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774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+mn-lt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+mn-lt"/>
              <a:cs typeface="Calibri"/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5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spc="-5" dirty="0">
                <a:latin typeface="+mn-lt"/>
                <a:cs typeface="Calibri"/>
              </a:rPr>
              <a:t>(n+1)/4</a:t>
            </a:r>
            <a:r>
              <a:rPr lang="en-GB" sz="1200" dirty="0">
                <a:latin typeface="+mn-lt"/>
                <a:cs typeface="Calibri"/>
              </a:rPr>
              <a:t>th </a:t>
            </a:r>
            <a:r>
              <a:rPr lang="en-GB" sz="1200" spc="-10" dirty="0">
                <a:latin typeface="+mn-lt"/>
                <a:cs typeface="Calibri"/>
              </a:rPr>
              <a:t>value </a:t>
            </a:r>
            <a:r>
              <a:rPr lang="en-GB" sz="1200" spc="-5" dirty="0">
                <a:latin typeface="+mn-lt"/>
                <a:cs typeface="Calibri"/>
              </a:rPr>
              <a:t>of </a:t>
            </a:r>
            <a:r>
              <a:rPr lang="en-GB" sz="1200" spc="-15" dirty="0">
                <a:latin typeface="+mn-lt"/>
                <a:cs typeface="Calibri"/>
              </a:rPr>
              <a:t>ordered</a:t>
            </a:r>
            <a:r>
              <a:rPr lang="en-GB" sz="1200" spc="-10" dirty="0">
                <a:latin typeface="+mn-lt"/>
                <a:cs typeface="Calibri"/>
              </a:rPr>
              <a:t> obs.</a:t>
            </a:r>
            <a:endParaRPr lang="en-GB" sz="1200" dirty="0">
              <a:latin typeface="+mn-lt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spc="-20" dirty="0">
                <a:latin typeface="+mn-lt"/>
                <a:cs typeface="Calibri"/>
              </a:rPr>
              <a:t>It’s </a:t>
            </a:r>
            <a:r>
              <a:rPr lang="en-GB" sz="1200" dirty="0">
                <a:latin typeface="+mn-lt"/>
                <a:cs typeface="Calibri"/>
              </a:rPr>
              <a:t>the </a:t>
            </a:r>
            <a:r>
              <a:rPr lang="en-GB" sz="1200" spc="-5" dirty="0">
                <a:latin typeface="+mn-lt"/>
                <a:cs typeface="Calibri"/>
              </a:rPr>
              <a:t>number </a:t>
            </a:r>
            <a:r>
              <a:rPr lang="en-GB" sz="1200" spc="-10" dirty="0">
                <a:latin typeface="+mn-lt"/>
                <a:cs typeface="Calibri"/>
              </a:rPr>
              <a:t>below </a:t>
            </a:r>
            <a:r>
              <a:rPr lang="en-GB" sz="1200" dirty="0">
                <a:latin typeface="+mn-lt"/>
                <a:cs typeface="Calibri"/>
              </a:rPr>
              <a:t>which lies the 25% </a:t>
            </a:r>
            <a:r>
              <a:rPr lang="en-GB" sz="1200" spc="-5" dirty="0">
                <a:latin typeface="+mn-lt"/>
                <a:cs typeface="Calibri"/>
              </a:rPr>
              <a:t>of </a:t>
            </a:r>
            <a:r>
              <a:rPr lang="en-GB" sz="1200" dirty="0">
                <a:latin typeface="+mn-lt"/>
                <a:cs typeface="Calibri"/>
              </a:rPr>
              <a:t>the </a:t>
            </a:r>
            <a:r>
              <a:rPr lang="en-GB" sz="1200" spc="-15" dirty="0">
                <a:uFill>
                  <a:solidFill>
                    <a:srgbClr val="0000FF"/>
                  </a:solidFill>
                </a:uFill>
                <a:latin typeface="+mn-lt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bottom</a:t>
            </a:r>
            <a:r>
              <a:rPr lang="en-GB" sz="1200" spc="-60" dirty="0">
                <a:latin typeface="+mn-lt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200" spc="-15" dirty="0">
                <a:latin typeface="+mn-lt"/>
                <a:cs typeface="Calibri"/>
              </a:rPr>
              <a:t>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spc="-15" dirty="0">
              <a:latin typeface="+mn-lt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spc="-5" dirty="0">
                <a:latin typeface="+mn-lt"/>
                <a:cs typeface="Calibri"/>
              </a:rPr>
              <a:t>Divides </a:t>
            </a:r>
            <a:r>
              <a:rPr lang="en-GB" sz="1200" dirty="0">
                <a:latin typeface="+mn-lt"/>
                <a:cs typeface="Calibri"/>
              </a:rPr>
              <a:t>the </a:t>
            </a:r>
            <a:r>
              <a:rPr lang="en-GB" sz="1200" spc="-20" dirty="0">
                <a:latin typeface="+mn-lt"/>
                <a:cs typeface="Calibri"/>
              </a:rPr>
              <a:t>range </a:t>
            </a:r>
            <a:r>
              <a:rPr lang="en-GB" sz="1200" dirty="0">
                <a:latin typeface="+mn-lt"/>
                <a:cs typeface="Calibri"/>
              </a:rPr>
              <a:t>in the middle &amp; </a:t>
            </a:r>
            <a:r>
              <a:rPr lang="en-GB" sz="1200" spc="-5" dirty="0">
                <a:latin typeface="+mn-lt"/>
                <a:cs typeface="Calibri"/>
              </a:rPr>
              <a:t>has 50% of </a:t>
            </a:r>
            <a:r>
              <a:rPr lang="en-GB" sz="1200" dirty="0">
                <a:latin typeface="+mn-lt"/>
                <a:cs typeface="Calibri"/>
              </a:rPr>
              <a:t>the </a:t>
            </a:r>
            <a:r>
              <a:rPr lang="en-GB" sz="1200" spc="-15" dirty="0">
                <a:latin typeface="+mn-lt"/>
                <a:cs typeface="Calibri"/>
              </a:rPr>
              <a:t>data </a:t>
            </a:r>
            <a:r>
              <a:rPr lang="en-GB" sz="1200" spc="-10" dirty="0">
                <a:latin typeface="+mn-lt"/>
                <a:cs typeface="Calibri"/>
              </a:rPr>
              <a:t>below</a:t>
            </a:r>
            <a:r>
              <a:rPr lang="en-GB" sz="1200" spc="-40" dirty="0">
                <a:latin typeface="+mn-lt"/>
                <a:cs typeface="Calibri"/>
              </a:rPr>
              <a:t> </a:t>
            </a:r>
            <a:r>
              <a:rPr lang="en-GB" sz="1200" dirty="0">
                <a:latin typeface="+mn-lt"/>
                <a:cs typeface="Calibri"/>
              </a:rPr>
              <a:t>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+mn-lt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+mn-lt"/>
                <a:cs typeface="Calibri"/>
              </a:rPr>
              <a:t>3*(n+1)/4th </a:t>
            </a:r>
            <a:r>
              <a:rPr lang="en-GB" sz="1200" spc="-10" dirty="0">
                <a:latin typeface="+mn-lt"/>
                <a:cs typeface="Calibri"/>
              </a:rPr>
              <a:t>value </a:t>
            </a:r>
            <a:r>
              <a:rPr lang="en-GB" sz="1200" spc="-5" dirty="0">
                <a:latin typeface="+mn-lt"/>
                <a:cs typeface="Calibri"/>
              </a:rPr>
              <a:t>of </a:t>
            </a:r>
            <a:r>
              <a:rPr lang="en-GB" sz="1200" spc="-15" dirty="0">
                <a:latin typeface="+mn-lt"/>
                <a:cs typeface="Calibri"/>
              </a:rPr>
              <a:t>ordered</a:t>
            </a:r>
            <a:r>
              <a:rPr lang="en-GB" sz="1200" spc="10" dirty="0">
                <a:latin typeface="+mn-lt"/>
                <a:cs typeface="Calibri"/>
              </a:rPr>
              <a:t> </a:t>
            </a:r>
            <a:r>
              <a:rPr lang="en-GB" sz="1200" spc="-10" dirty="0">
                <a:latin typeface="+mn-lt"/>
                <a:cs typeface="Calibri"/>
              </a:rPr>
              <a:t>obs.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+mn-lt"/>
                <a:cs typeface="Calibri"/>
              </a:rPr>
              <a:t>It </a:t>
            </a:r>
            <a:r>
              <a:rPr lang="en-GB" sz="1200" spc="-5" dirty="0">
                <a:latin typeface="+mn-lt"/>
                <a:cs typeface="Calibri"/>
              </a:rPr>
              <a:t>has 75% </a:t>
            </a:r>
            <a:r>
              <a:rPr lang="en-GB" sz="1200" spc="-10" dirty="0">
                <a:latin typeface="+mn-lt"/>
                <a:cs typeface="Calibri"/>
              </a:rPr>
              <a:t>of </a:t>
            </a:r>
            <a:r>
              <a:rPr lang="en-GB" sz="1200" dirty="0">
                <a:latin typeface="+mn-lt"/>
                <a:cs typeface="Calibri"/>
              </a:rPr>
              <a:t>the </a:t>
            </a:r>
            <a:r>
              <a:rPr lang="en-GB" sz="1200" spc="-15" dirty="0">
                <a:latin typeface="+mn-lt"/>
                <a:cs typeface="Calibri"/>
              </a:rPr>
              <a:t>data </a:t>
            </a:r>
            <a:r>
              <a:rPr lang="en-GB" sz="1200" spc="-10" dirty="0">
                <a:latin typeface="+mn-lt"/>
                <a:cs typeface="Calibri"/>
              </a:rPr>
              <a:t>below </a:t>
            </a:r>
            <a:r>
              <a:rPr lang="en-GB" sz="1200" dirty="0">
                <a:latin typeface="+mn-lt"/>
                <a:cs typeface="Calibri"/>
              </a:rPr>
              <a:t>it &amp; the </a:t>
            </a:r>
            <a:r>
              <a:rPr lang="en-GB" sz="1200" spc="-10" dirty="0">
                <a:latin typeface="+mn-lt"/>
                <a:cs typeface="Calibri"/>
              </a:rPr>
              <a:t>top </a:t>
            </a:r>
            <a:r>
              <a:rPr lang="en-GB" sz="1200" spc="-5" dirty="0">
                <a:latin typeface="+mn-lt"/>
                <a:cs typeface="Calibri"/>
              </a:rPr>
              <a:t>25% of </a:t>
            </a:r>
            <a:r>
              <a:rPr lang="en-GB" sz="1200" dirty="0">
                <a:latin typeface="+mn-lt"/>
                <a:cs typeface="Calibri"/>
              </a:rPr>
              <a:t>the </a:t>
            </a:r>
            <a:r>
              <a:rPr lang="en-GB" sz="1200" spc="-15" dirty="0">
                <a:latin typeface="+mn-lt"/>
                <a:cs typeface="Calibri"/>
              </a:rPr>
              <a:t>data </a:t>
            </a:r>
            <a:r>
              <a:rPr lang="en-GB" sz="1200" spc="-10" dirty="0">
                <a:latin typeface="+mn-lt"/>
                <a:cs typeface="Calibri"/>
              </a:rPr>
              <a:t>above</a:t>
            </a:r>
            <a:r>
              <a:rPr lang="en-GB" sz="1200" spc="-55" dirty="0">
                <a:latin typeface="+mn-lt"/>
                <a:cs typeface="Calibri"/>
              </a:rPr>
              <a:t> </a:t>
            </a:r>
            <a:r>
              <a:rPr lang="en-GB" sz="1200" dirty="0">
                <a:latin typeface="+mn-lt"/>
                <a:cs typeface="Calibri"/>
              </a:rPr>
              <a:t>it</a:t>
            </a:r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interquartile range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measure of where the “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middle fifty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is in a data 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EEABC8-1BC7-C74C-98D9-EC09B460C45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589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2682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796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EEABC8-1BC7-C74C-98D9-EC09B460C45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974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Negan </a:t>
            </a:r>
            <a:r>
              <a:rPr lang="en-GB" dirty="0" err="1"/>
              <a:t>pu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8810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Negan </a:t>
            </a:r>
            <a:r>
              <a:rPr lang="en-GB" dirty="0" err="1"/>
              <a:t>pu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6996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973DE8-1EC7-9C41-B6BA-DB20899CA618}" type="slidenum">
              <a:rPr lang="en-US" altLang="x-none" smtClean="0"/>
              <a:pPr/>
              <a:t>48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318061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56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76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17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2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5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3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94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52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337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3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68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9050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21D7B2-F6DF-4749-BE48-6DFE0A2356E7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356977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0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9376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71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57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450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815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549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00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661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7580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49376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743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1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5948" y="6373870"/>
            <a:ext cx="540000" cy="14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43876" y="6366670"/>
            <a:ext cx="1137207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 userDrawn="1"/>
        </p:nvSpPr>
        <p:spPr>
          <a:xfrm>
            <a:off x="1271508" y="6382660"/>
            <a:ext cx="65527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Anwar Musah</a:t>
            </a:r>
          </a:p>
          <a:p>
            <a:r>
              <a:rPr lang="en-GB" sz="1000" baseline="0" dirty="0"/>
              <a:t>Department of Geography | University College London</a:t>
            </a:r>
            <a:endParaRPr lang="en-GB" sz="1000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07412" y="6382660"/>
            <a:ext cx="8098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08/01/2023</a:t>
            </a:r>
            <a:endParaRPr lang="en-GB" sz="1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BDAA3BF-490B-F04A-A2CB-E621585C9A06}"/>
              </a:ext>
            </a:extLst>
          </p:cNvPr>
          <p:cNvGrpSpPr/>
          <p:nvPr userDrawn="1"/>
        </p:nvGrpSpPr>
        <p:grpSpPr>
          <a:xfrm>
            <a:off x="0" y="-2117"/>
            <a:ext cx="12192000" cy="988484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B61271D3-7DDF-6F43-BB50-A40EB80AA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434D1C0-E761-1A47-8DBA-F01E27D73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F6B7FAD-114F-BE45-98FE-B3374CB38F71}"/>
              </a:ext>
            </a:extLst>
          </p:cNvPr>
          <p:cNvSpPr txBox="1">
            <a:spLocks/>
          </p:cNvSpPr>
          <p:nvPr userDrawn="1"/>
        </p:nvSpPr>
        <p:spPr>
          <a:xfrm>
            <a:off x="288000" y="288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/>
              <a:buNone/>
              <a:defRPr sz="1467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0000"/>
              </a:lnSpc>
              <a:spcBef>
                <a:spcPts val="500"/>
              </a:spcBef>
              <a:buFont typeface="Arial"/>
              <a:buNone/>
              <a:defRPr sz="14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Department of Geography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577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91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.mastrosavvas@ucl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bDokwN3bkr0?feature=oembed" TargetMode="Externa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1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1.png"/><Relationship Id="rId4" Type="http://schemas.openxmlformats.org/officeDocument/2006/relationships/image" Target="../media/image20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5.png"/><Relationship Id="rId7" Type="http://schemas.openxmlformats.org/officeDocument/2006/relationships/image" Target="../media/image27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png"/><Relationship Id="rId5" Type="http://schemas.openxmlformats.org/officeDocument/2006/relationships/image" Target="../media/image240.png"/><Relationship Id="rId4" Type="http://schemas.openxmlformats.org/officeDocument/2006/relationships/image" Target="../media/image190.png"/><Relationship Id="rId9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CLPG-MSC-SGDS/POLS0008/raw/main/datasets.zip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67A4CB3-F0C9-5F4A-8B2A-F66E99725E17}"/>
              </a:ext>
            </a:extLst>
          </p:cNvPr>
          <p:cNvSpPr/>
          <p:nvPr/>
        </p:nvSpPr>
        <p:spPr>
          <a:xfrm>
            <a:off x="189716" y="1207418"/>
            <a:ext cx="1172975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cap="all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  <a:t>POLS0008</a:t>
            </a:r>
          </a:p>
          <a:p>
            <a:r>
              <a:rPr lang="en-GB" sz="3200" b="1" cap="all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  <a:t>INTRODUCTION TO QUANTITATIVE RESEARCH METHODS</a:t>
            </a:r>
            <a:br>
              <a:rPr lang="en-GB" sz="2000" cap="all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</a:br>
            <a:endParaRPr lang="en-GB" sz="2000" cap="all" dirty="0">
              <a:latin typeface="Helvetica Neue Light" panose="02000403000000020004" pitchFamily="2" charset="0"/>
              <a:ea typeface="Helvetica Neue Light" panose="02000403000000020004" pitchFamily="2" charset="0"/>
              <a:cs typeface="Calibri Light" charset="0"/>
            </a:endParaRPr>
          </a:p>
          <a:p>
            <a:endParaRPr lang="en-GB" sz="3200" b="1" cap="all" dirty="0">
              <a:solidFill>
                <a:prstClr val="black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alibri Light" charset="0"/>
            </a:endParaRPr>
          </a:p>
          <a:p>
            <a:r>
              <a:rPr lang="en-GB" sz="3200" b="1" cap="all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  <a:t>WEEK TWO: EXAMINING DATA (PART I)</a:t>
            </a:r>
          </a:p>
          <a:p>
            <a:endParaRPr lang="en-GB" altLang="en-US" sz="2400" dirty="0">
              <a:solidFill>
                <a:prstClr val="black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endParaRPr lang="en-GB" altLang="en-US" sz="2400" dirty="0">
              <a:solidFill>
                <a:prstClr val="black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r>
              <a:rPr lang="en-GB" altLang="en-US" sz="2400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Dr Andreas </a:t>
            </a:r>
            <a:r>
              <a:rPr lang="en-GB" altLang="en-US" sz="2400" dirty="0" err="1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Mastrosavvas</a:t>
            </a:r>
            <a:r>
              <a:rPr lang="en-GB" altLang="en-US" sz="2400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(</a:t>
            </a:r>
            <a:r>
              <a:rPr lang="en-GB" altLang="en-US" sz="2400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hlinkClick r:id="rId3"/>
              </a:rPr>
              <a:t>a.mastrosavvas@ucl.ac.uk</a:t>
            </a:r>
            <a:r>
              <a:rPr lang="en-GB" altLang="en-US" sz="2400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) </a:t>
            </a:r>
          </a:p>
          <a:p>
            <a:br>
              <a:rPr lang="en-GB" sz="2000" cap="all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</a:br>
            <a:endParaRPr lang="en-GB" sz="1600" cap="all" dirty="0">
              <a:latin typeface="Helvetica Neue Light" panose="02000403000000020004" pitchFamily="2" charset="0"/>
              <a:ea typeface="Helvetica Neue Light" panose="02000403000000020004" pitchFamily="2" charset="0"/>
              <a:cs typeface="Calibri 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F389B-F6B0-A94C-97E9-5A3AD8DBB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2AAAD3D-5482-6A87-1120-200F3FEBEB3C}"/>
              </a:ext>
            </a:extLst>
          </p:cNvPr>
          <p:cNvSpPr txBox="1">
            <a:spLocks/>
          </p:cNvSpPr>
          <p:nvPr/>
        </p:nvSpPr>
        <p:spPr>
          <a:xfrm>
            <a:off x="11652000" y="6410094"/>
            <a:ext cx="435734" cy="42500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1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563FC6-59D4-5AF3-5878-5564B13AF898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04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310937-9810-114F-983E-4800E87EE95A}"/>
              </a:ext>
            </a:extLst>
          </p:cNvPr>
          <p:cNvSpPr/>
          <p:nvPr/>
        </p:nvSpPr>
        <p:spPr>
          <a:xfrm>
            <a:off x="0" y="0"/>
            <a:ext cx="12192000" cy="7198130"/>
          </a:xfrm>
          <a:prstGeom prst="rect">
            <a:avLst/>
          </a:prstGeom>
          <a:solidFill>
            <a:srgbClr val="008CE6"/>
          </a:solidFill>
          <a:ln>
            <a:solidFill>
              <a:srgbClr val="0091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76F1414-123F-A64D-A741-24140E769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98" y="2950571"/>
            <a:ext cx="11233150" cy="1296988"/>
          </a:xfrm>
        </p:spPr>
        <p:txBody>
          <a:bodyPr/>
          <a:lstStyle/>
          <a:p>
            <a:pPr lvl="0" algn="ctr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3600" kern="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RECAP OF LAST WEEK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9DBA140-4DAE-190B-E116-DFF309918A36}"/>
              </a:ext>
            </a:extLst>
          </p:cNvPr>
          <p:cNvSpPr txBox="1">
            <a:spLocks/>
          </p:cNvSpPr>
          <p:nvPr/>
        </p:nvSpPr>
        <p:spPr>
          <a:xfrm>
            <a:off x="11652000" y="6410094"/>
            <a:ext cx="435734" cy="42500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2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553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2A880-DD1F-FF4C-9B05-B722BABF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20" y="1109501"/>
            <a:ext cx="7220712" cy="562189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Definition of Statistics?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E3F74-C581-9346-BDCB-2ACC4416D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660" y="1671690"/>
            <a:ext cx="11726680" cy="464911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GB" dirty="0">
              <a:latin typeface="Palatino" pitchFamily="2" charset="77"/>
              <a:ea typeface="Palatino" pitchFamily="2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Statistics is the science of collecting, organising, analysing and interpreting numerical data to assist in making a more informed decision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2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In short – statistics is the science of crunching data and getting some meaningful information from 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200" dirty="0"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It is typically use to </a:t>
            </a:r>
            <a:r>
              <a:rPr lang="en-GB" sz="22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summarising</a:t>
            </a: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data points aka </a:t>
            </a:r>
            <a:r>
              <a:rPr lang="en-GB" sz="2200" b="1" u="sng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samples</a:t>
            </a: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, and testing a </a:t>
            </a:r>
            <a:r>
              <a:rPr lang="en-GB" sz="22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hypothesis </a:t>
            </a: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using such </a:t>
            </a:r>
            <a:r>
              <a:rPr lang="en-GB" sz="2200" b="1" u="sng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sample</a:t>
            </a: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to make</a:t>
            </a:r>
            <a:r>
              <a:rPr lang="en-GB" sz="22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predictions</a:t>
            </a: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about a </a:t>
            </a:r>
            <a:r>
              <a:rPr lang="en-GB" sz="2200" b="1" u="sng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population</a:t>
            </a: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OR determine </a:t>
            </a:r>
            <a:r>
              <a:rPr lang="en-GB" sz="22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causal relationships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880CB0-9A8B-7D4C-8429-EBDEC9B2F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D1605-DB66-421F-AC2A-2632FDFC2AA0}"/>
              </a:ext>
            </a:extLst>
          </p:cNvPr>
          <p:cNvSpPr txBox="1">
            <a:spLocks/>
          </p:cNvSpPr>
          <p:nvPr/>
        </p:nvSpPr>
        <p:spPr>
          <a:xfrm>
            <a:off x="11652000" y="6410094"/>
            <a:ext cx="435734" cy="42500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3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99F63F-D16D-D545-DE00-088288FE52AF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15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FDFEF-59CE-C144-A709-037E37846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0D7C941-DBA5-C344-BBD5-DBE922D36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CE7FB7-61B6-F047-BCC0-0521527C84B1}"/>
              </a:ext>
            </a:extLst>
          </p:cNvPr>
          <p:cNvSpPr/>
          <p:nvPr/>
        </p:nvSpPr>
        <p:spPr>
          <a:xfrm>
            <a:off x="794553" y="3429000"/>
            <a:ext cx="4776590" cy="1244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Descriptive (explorative) statistics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80CE7C7-911B-6548-8060-F7C129B95E7D}"/>
              </a:ext>
            </a:extLst>
          </p:cNvPr>
          <p:cNvSpPr/>
          <p:nvPr/>
        </p:nvSpPr>
        <p:spPr>
          <a:xfrm>
            <a:off x="6096000" y="3429000"/>
            <a:ext cx="4659074" cy="12449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Inferential (evidence-based) statistics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DB64FCD-EC2A-1844-B4E6-E00B48F28211}"/>
              </a:ext>
            </a:extLst>
          </p:cNvPr>
          <p:cNvSpPr txBox="1">
            <a:spLocks/>
          </p:cNvSpPr>
          <p:nvPr/>
        </p:nvSpPr>
        <p:spPr>
          <a:xfrm>
            <a:off x="237639" y="1142552"/>
            <a:ext cx="7220712" cy="562189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Definition of Statistics?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2CA985-7457-6842-8AA9-91418D9EBA1B}"/>
              </a:ext>
            </a:extLst>
          </p:cNvPr>
          <p:cNvSpPr txBox="1"/>
          <p:nvPr/>
        </p:nvSpPr>
        <p:spPr>
          <a:xfrm>
            <a:off x="772379" y="2059039"/>
            <a:ext cx="95975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Composed of three main facets: Description,  Inference, and </a:t>
            </a:r>
            <a:r>
              <a:rPr lang="en-US" sz="2000" b="1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Design</a:t>
            </a:r>
          </a:p>
          <a:p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The </a:t>
            </a:r>
            <a:r>
              <a:rPr lang="en-US" sz="2000" b="1" dirty="0">
                <a:solidFill>
                  <a:schemeClr val="accent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descriptive</a:t>
            </a:r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 and </a:t>
            </a:r>
            <a:r>
              <a:rPr lang="en-US" sz="2000" b="1" dirty="0">
                <a:solidFill>
                  <a:schemeClr val="accent2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inferential</a:t>
            </a:r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 elements are what we refer to as statistical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0A7A51-851C-FE46-AD83-04B8C96D4B59}"/>
              </a:ext>
            </a:extLst>
          </p:cNvPr>
          <p:cNvSpPr txBox="1"/>
          <p:nvPr/>
        </p:nvSpPr>
        <p:spPr>
          <a:xfrm>
            <a:off x="794553" y="4902506"/>
            <a:ext cx="55621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Describing ways the data looks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Summarizing the data that has been collected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Design: Cross-sectional and ecological </a:t>
            </a:r>
            <a:r>
              <a:rPr lang="en-GB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Hypothesis generating exercise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776A8A-E027-7B42-BDF2-D2E4C9D6D726}"/>
              </a:ext>
            </a:extLst>
          </p:cNvPr>
          <p:cNvSpPr txBox="1"/>
          <p:nvPr/>
        </p:nvSpPr>
        <p:spPr>
          <a:xfrm>
            <a:off x="6015209" y="4902506"/>
            <a:ext cx="60243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Making prediction (or future forecasts) about the wider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Evidence-based research for testing hypothesis and making conclusions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Causal inference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Design: Case-control, cohort and RCTs </a:t>
            </a:r>
            <a:r>
              <a:rPr lang="en-GB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framework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6464B8-4A3D-5C45-89E8-FDA9226C4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4798465-9234-3298-CA60-446F829D64B2}"/>
              </a:ext>
            </a:extLst>
          </p:cNvPr>
          <p:cNvSpPr txBox="1">
            <a:spLocks/>
          </p:cNvSpPr>
          <p:nvPr/>
        </p:nvSpPr>
        <p:spPr>
          <a:xfrm>
            <a:off x="11652000" y="6410094"/>
            <a:ext cx="435734" cy="42500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4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B9ECEC-0C74-4981-0D7E-010106E9A4AB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87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F45A1BEF-9215-A94F-828F-BA392AEC8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373" y="1542361"/>
            <a:ext cx="7698952" cy="42344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DA687C-2615-1A44-A2EF-E903AD4B764B}"/>
              </a:ext>
            </a:extLst>
          </p:cNvPr>
          <p:cNvSpPr/>
          <p:nvPr/>
        </p:nvSpPr>
        <p:spPr>
          <a:xfrm>
            <a:off x="1358748" y="1233891"/>
            <a:ext cx="4737252" cy="870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GB" sz="1600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Population </a:t>
            </a:r>
          </a:p>
          <a:p>
            <a:r>
              <a:rPr lang="en-GB" sz="16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This is the entire set of data points we wish to study (e.g., individuals, businesses, geographical units etc.)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E12F08-4D9D-1242-A8B7-37AA052F7209}"/>
              </a:ext>
            </a:extLst>
          </p:cNvPr>
          <p:cNvSpPr/>
          <p:nvPr/>
        </p:nvSpPr>
        <p:spPr>
          <a:xfrm>
            <a:off x="6402636" y="1233891"/>
            <a:ext cx="4737252" cy="11898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GB" sz="1600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Sample</a:t>
            </a:r>
          </a:p>
          <a:p>
            <a:r>
              <a:rPr lang="en-GB" sz="16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This is a subset of data points chosen for study through data collection (preferably, </a:t>
            </a:r>
            <a:r>
              <a:rPr lang="en-GB" sz="1600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probabilistic data collection approach</a:t>
            </a:r>
            <a:r>
              <a:rPr lang="en-GB" sz="16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5338A8-4673-A74C-AD1B-6CD13F4A7F97}"/>
              </a:ext>
            </a:extLst>
          </p:cNvPr>
          <p:cNvSpPr/>
          <p:nvPr/>
        </p:nvSpPr>
        <p:spPr>
          <a:xfrm>
            <a:off x="6096000" y="4434290"/>
            <a:ext cx="5111827" cy="16509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GB" sz="1600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Analysis of sample</a:t>
            </a:r>
          </a:p>
          <a:p>
            <a:r>
              <a:rPr lang="en-GB" sz="16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Here, we conduct our statistic analysis on the subset of data points drawn from the population.</a:t>
            </a:r>
          </a:p>
          <a:p>
            <a:endParaRPr lang="en-GB" sz="16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r>
              <a:rPr lang="en-GB" sz="16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Whatever </a:t>
            </a:r>
            <a:r>
              <a:rPr lang="en-GB" sz="1600" b="1" dirty="0">
                <a:solidFill>
                  <a:schemeClr val="accent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descriptive</a:t>
            </a:r>
            <a:r>
              <a:rPr lang="en-GB" sz="16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summaries or </a:t>
            </a:r>
            <a:r>
              <a:rPr lang="en-GB" sz="1600" b="1" dirty="0">
                <a:solidFill>
                  <a:schemeClr val="accent2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inferences</a:t>
            </a:r>
            <a:r>
              <a:rPr lang="en-GB" sz="16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made on this sample – its </a:t>
            </a:r>
            <a:r>
              <a:rPr lang="en-GB" sz="1600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representative &amp; generalisable</a:t>
            </a:r>
            <a:r>
              <a:rPr lang="en-GB" sz="16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of the population its from.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D9A5B4-38F2-FF4A-8AA6-36A4E92FE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F85C155-28E7-74CC-184E-E911CA013C58}"/>
              </a:ext>
            </a:extLst>
          </p:cNvPr>
          <p:cNvSpPr txBox="1">
            <a:spLocks/>
          </p:cNvSpPr>
          <p:nvPr/>
        </p:nvSpPr>
        <p:spPr>
          <a:xfrm>
            <a:off x="11652000" y="6410094"/>
            <a:ext cx="435734" cy="42500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5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987ED5-DBF0-39E2-4CB8-E0F49B6CF0D3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21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5686FA9D-9A01-BD28-6C51-B94FF454C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520" t="139" r="1520" b="58150"/>
          <a:stretch/>
        </p:blipFill>
        <p:spPr bwMode="auto">
          <a:xfrm>
            <a:off x="1708739" y="2193832"/>
            <a:ext cx="8201440" cy="2066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3A4F9008-37EE-1875-74B8-1B58F29B09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947" b="33741"/>
          <a:stretch/>
        </p:blipFill>
        <p:spPr bwMode="auto">
          <a:xfrm>
            <a:off x="1829206" y="4229329"/>
            <a:ext cx="8201440" cy="758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44280F4D-3FFD-F44D-13C7-73A8570C96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5698" b="14688"/>
          <a:stretch/>
        </p:blipFill>
        <p:spPr bwMode="auto">
          <a:xfrm>
            <a:off x="1829206" y="4965784"/>
            <a:ext cx="820144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D3BA6C-01DD-C1BE-64F6-AA874748B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CA5FA3E-CD37-28D9-E43F-A84D886E4574}"/>
              </a:ext>
            </a:extLst>
          </p:cNvPr>
          <p:cNvSpPr txBox="1">
            <a:spLocks/>
          </p:cNvSpPr>
          <p:nvPr/>
        </p:nvSpPr>
        <p:spPr>
          <a:xfrm>
            <a:off x="1331203" y="1179860"/>
            <a:ext cx="9197446" cy="5580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More (very basic) Statistical Notation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02EAF12-25E7-3C9B-481E-F7F43DCC8EB9}"/>
              </a:ext>
            </a:extLst>
          </p:cNvPr>
          <p:cNvSpPr txBox="1">
            <a:spLocks/>
          </p:cNvSpPr>
          <p:nvPr/>
        </p:nvSpPr>
        <p:spPr>
          <a:xfrm>
            <a:off x="11652000" y="6410094"/>
            <a:ext cx="435734" cy="42500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6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3FD9C6-71C4-38C4-1EDD-B3019B0DDCEC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2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493837" y="1016011"/>
            <a:ext cx="9197446" cy="1296988"/>
          </a:xfrm>
        </p:spPr>
        <p:txBody>
          <a:bodyPr/>
          <a:lstStyle/>
          <a:p>
            <a:pPr algn="ctr"/>
            <a:r>
              <a:rPr lang="en-US" sz="3400" b="1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Type of Variables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1493837" y="1464694"/>
            <a:ext cx="9197446" cy="4681067"/>
          </a:xfrm>
        </p:spPr>
        <p:txBody>
          <a:bodyPr/>
          <a:lstStyle/>
          <a:p>
            <a:endParaRPr lang="en-US" sz="2000" dirty="0">
              <a:ea typeface="ＭＳ Ｐゴシック" charset="0"/>
              <a:cs typeface="Calibri"/>
            </a:endParaRPr>
          </a:p>
          <a:p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A variable is anything that we can measure about the subjects in our sample</a:t>
            </a:r>
          </a:p>
          <a:p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Variables vary, that is they take on a range of values</a:t>
            </a:r>
          </a:p>
          <a:p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There are two classifications of variables</a:t>
            </a:r>
          </a:p>
          <a:p>
            <a:endParaRPr lang="en-US" sz="2000" dirty="0">
              <a:ea typeface="ＭＳ Ｐゴシック" charset="0"/>
              <a:cs typeface="Calibri"/>
            </a:endParaRPr>
          </a:p>
          <a:p>
            <a:endParaRPr lang="en-US" sz="2000" dirty="0">
              <a:ea typeface="ＭＳ Ｐゴシック" charset="0"/>
              <a:cs typeface="Calibri"/>
            </a:endParaRPr>
          </a:p>
          <a:p>
            <a:endParaRPr lang="en-US" sz="2000" dirty="0">
              <a:ea typeface="ＭＳ Ｐゴシック" charset="0"/>
              <a:cs typeface="Calibri"/>
            </a:endParaRPr>
          </a:p>
          <a:p>
            <a:endParaRPr lang="en-US" sz="2000" dirty="0">
              <a:ea typeface="ＭＳ Ｐゴシック" charset="0"/>
              <a:cs typeface="Calibri"/>
            </a:endParaRPr>
          </a:p>
          <a:p>
            <a:endParaRPr lang="en-US" sz="2000" dirty="0">
              <a:ea typeface="ＭＳ Ｐゴシック" charset="0"/>
              <a:cs typeface="Calibri"/>
            </a:endParaRPr>
          </a:p>
          <a:p>
            <a:pPr marL="0" indent="0">
              <a:buNone/>
            </a:pPr>
            <a:endParaRPr lang="en-US" sz="2000" dirty="0">
              <a:ea typeface="ＭＳ Ｐゴシック" charset="0"/>
              <a:cs typeface="Calibri"/>
            </a:endParaRPr>
          </a:p>
          <a:p>
            <a:r>
              <a:rPr lang="en-US"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Levels of measurement: </a:t>
            </a:r>
            <a:r>
              <a:rPr lang="en-US" sz="18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(Lowest) Nominal &lt;&lt; Ordinal &lt;&lt; Interval &lt;&lt; Ratio (Highest) </a:t>
            </a:r>
          </a:p>
          <a:p>
            <a:pPr marL="0" indent="0">
              <a:buNone/>
            </a:pPr>
            <a:endParaRPr lang="en-US" sz="2000" dirty="0">
              <a:ea typeface="ＭＳ Ｐゴシック" charset="0"/>
              <a:cs typeface="Calibri"/>
            </a:endParaRPr>
          </a:p>
          <a:p>
            <a:pPr marL="0" indent="0">
              <a:buNone/>
            </a:pPr>
            <a:endParaRPr lang="en-US" sz="2000" dirty="0">
              <a:ea typeface="ＭＳ Ｐゴシック" charset="0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66985D-916B-D04B-A831-F102846C0833}"/>
              </a:ext>
            </a:extLst>
          </p:cNvPr>
          <p:cNvSpPr/>
          <p:nvPr/>
        </p:nvSpPr>
        <p:spPr>
          <a:xfrm>
            <a:off x="1900756" y="3279709"/>
            <a:ext cx="3752193" cy="5255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Continuous Variables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1224FA-E349-7742-A24C-C64CEE624D74}"/>
              </a:ext>
            </a:extLst>
          </p:cNvPr>
          <p:cNvSpPr/>
          <p:nvPr/>
        </p:nvSpPr>
        <p:spPr>
          <a:xfrm>
            <a:off x="6307037" y="3279709"/>
            <a:ext cx="3752193" cy="5255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Categorical Variables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8252C-B3C8-CB42-8595-5B6C1EAD9D76}"/>
              </a:ext>
            </a:extLst>
          </p:cNvPr>
          <p:cNvSpPr/>
          <p:nvPr/>
        </p:nvSpPr>
        <p:spPr>
          <a:xfrm>
            <a:off x="1900757" y="3813944"/>
            <a:ext cx="3752193" cy="1509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Tx/>
              <a:buAutoNum type="arabicPeriod"/>
            </a:pPr>
            <a:r>
              <a:rPr lang="en-GB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Interval</a:t>
            </a:r>
          </a:p>
          <a:p>
            <a:pPr marL="342900" indent="-342900">
              <a:buAutoNum type="arabicPeriod"/>
            </a:pPr>
            <a:r>
              <a:rPr lang="en-GB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Ratio 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9E3A90-9BE0-0842-9A09-F4487E0FE386}"/>
              </a:ext>
            </a:extLst>
          </p:cNvPr>
          <p:cNvSpPr/>
          <p:nvPr/>
        </p:nvSpPr>
        <p:spPr>
          <a:xfrm>
            <a:off x="6307036" y="3813944"/>
            <a:ext cx="3752193" cy="1509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AutoNum type="arabicPeriod"/>
            </a:pPr>
            <a:r>
              <a:rPr lang="en-GB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Nominal</a:t>
            </a:r>
          </a:p>
          <a:p>
            <a:pPr marL="342900" indent="-342900">
              <a:buAutoNum type="arabicPeriod"/>
            </a:pPr>
            <a:r>
              <a:rPr lang="en-GB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Ordinal</a:t>
            </a:r>
          </a:p>
          <a:p>
            <a:pPr marL="342900" indent="-342900">
              <a:buAutoNum type="arabicPeriod"/>
            </a:pP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E46145-ACB7-9241-A8D8-0403D2F38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48BCCCD-022C-16AB-5373-6E3A05291EE8}"/>
              </a:ext>
            </a:extLst>
          </p:cNvPr>
          <p:cNvSpPr txBox="1">
            <a:spLocks/>
          </p:cNvSpPr>
          <p:nvPr/>
        </p:nvSpPr>
        <p:spPr>
          <a:xfrm>
            <a:off x="11652000" y="6410094"/>
            <a:ext cx="435734" cy="42500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7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A20912-F977-79A1-7A56-6979FC7AF42B}"/>
              </a:ext>
            </a:extLst>
          </p:cNvPr>
          <p:cNvSpPr txBox="1"/>
          <p:nvPr/>
        </p:nvSpPr>
        <p:spPr>
          <a:xfrm>
            <a:off x="1493837" y="6143279"/>
            <a:ext cx="9030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 Light" panose="020B0403020202020204" pitchFamily="34" charset="0"/>
              </a:rPr>
              <a:t>We defined what independent and dependent variables are.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1FFE49-1590-5AAD-B277-0A212D16F39C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51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63EE5-0A0D-591F-175D-8B126B0B3C91}"/>
              </a:ext>
            </a:extLst>
          </p:cNvPr>
          <p:cNvSpPr txBox="1">
            <a:spLocks/>
          </p:cNvSpPr>
          <p:nvPr/>
        </p:nvSpPr>
        <p:spPr>
          <a:xfrm>
            <a:off x="144767" y="1193039"/>
            <a:ext cx="11345391" cy="5255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Descriptive Statistics?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2DD7C-8E32-71EE-618E-EDE7808D9BF2}"/>
              </a:ext>
            </a:extLst>
          </p:cNvPr>
          <p:cNvSpPr txBox="1">
            <a:spLocks/>
          </p:cNvSpPr>
          <p:nvPr/>
        </p:nvSpPr>
        <p:spPr>
          <a:xfrm>
            <a:off x="144766" y="1718557"/>
            <a:ext cx="11345391" cy="45017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indent="0">
              <a:buNone/>
            </a:pPr>
            <a:r>
              <a:rPr lang="en-US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Univariable analysis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Analysis of only one variable on some characteristic</a:t>
            </a:r>
          </a:p>
          <a:p>
            <a:pPr lvl="2">
              <a:buFont typeface="Wingdings" pitchFamily="2" charset="2"/>
              <a:buChar char="v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Frequency Distributions – essentially a count or distribution of values on some single variable</a:t>
            </a:r>
          </a:p>
          <a:p>
            <a:pPr lvl="2">
              <a:buFont typeface="Wingdings" pitchFamily="2" charset="2"/>
              <a:buChar char="v"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Other descriptive statistics – some summary measure that describes the data in a way not obvious by looking at the frequency distribution</a:t>
            </a:r>
          </a:p>
          <a:p>
            <a:pPr marL="957816" lvl="2" indent="0">
              <a:buFont typeface="Arial"/>
              <a:buNone/>
            </a:pP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indent="0">
              <a:buNone/>
            </a:pPr>
            <a:r>
              <a:rPr lang="en-US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Bivariable analysis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Analysis of two variables – can be simple scatter plots or cross-tabulations</a:t>
            </a:r>
          </a:p>
          <a:p>
            <a:pPr marL="478908" lvl="1" indent="0">
              <a:buFont typeface="Arial"/>
              <a:buNone/>
            </a:pPr>
            <a:endParaRPr lang="en-US" sz="2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indent="0">
              <a:buNone/>
            </a:pPr>
            <a:r>
              <a:rPr lang="en-US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Multivariable analysis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Analysis of three or more variables</a:t>
            </a:r>
          </a:p>
          <a:p>
            <a:pPr lvl="1"/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631CB-26FE-FA85-41A9-C14D3F263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A31503A-4D79-5E8F-08B2-F79422DA2214}"/>
              </a:ext>
            </a:extLst>
          </p:cNvPr>
          <p:cNvSpPr txBox="1">
            <a:spLocks/>
          </p:cNvSpPr>
          <p:nvPr/>
        </p:nvSpPr>
        <p:spPr>
          <a:xfrm>
            <a:off x="11652000" y="6410094"/>
            <a:ext cx="435734" cy="42500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8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98BF89-CE93-1B73-0785-2840F91D6F0D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00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622156-8D9B-4F4B-A9E3-7454B42B498F}"/>
              </a:ext>
            </a:extLst>
          </p:cNvPr>
          <p:cNvSpPr txBox="1"/>
          <p:nvPr/>
        </p:nvSpPr>
        <p:spPr>
          <a:xfrm>
            <a:off x="180475" y="120316"/>
            <a:ext cx="11863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created a table that contains group categories for height (of 5cm) measurement, and compute the frequency and proportions. In addition, we compute the cumulative frequency and its cumulative proportion as well.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8DA31-87B4-81AD-222D-55B7FC6E6276}"/>
              </a:ext>
            </a:extLst>
          </p:cNvPr>
          <p:cNvSpPr txBox="1"/>
          <p:nvPr/>
        </p:nvSpPr>
        <p:spPr>
          <a:xfrm>
            <a:off x="276728" y="1206706"/>
            <a:ext cx="11464174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94, 95, 97, 97, 100, 100, 101, 102, 103, 105, 105, 108, 108, 109, 109, 112, 113, 113, 118, 119, 121</a:t>
            </a:r>
            <a:endParaRPr lang="en-US" sz="1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2189CA0-CB18-CF9B-99E5-E08DB04ABE54}"/>
              </a:ext>
            </a:extLst>
          </p:cNvPr>
          <p:cNvGraphicFramePr>
            <a:graphicFrameLocks noGrp="1"/>
          </p:cNvGraphicFramePr>
          <p:nvPr/>
        </p:nvGraphicFramePr>
        <p:xfrm>
          <a:off x="276728" y="1850634"/>
          <a:ext cx="9384631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926">
                  <a:extLst>
                    <a:ext uri="{9D8B030D-6E8A-4147-A177-3AD203B41FA5}">
                      <a16:colId xmlns:a16="http://schemas.microsoft.com/office/drawing/2014/main" val="1271967229"/>
                    </a:ext>
                  </a:extLst>
                </a:gridCol>
                <a:gridCol w="1876926">
                  <a:extLst>
                    <a:ext uri="{9D8B030D-6E8A-4147-A177-3AD203B41FA5}">
                      <a16:colId xmlns:a16="http://schemas.microsoft.com/office/drawing/2014/main" val="2930736169"/>
                    </a:ext>
                  </a:extLst>
                </a:gridCol>
                <a:gridCol w="1997241">
                  <a:extLst>
                    <a:ext uri="{9D8B030D-6E8A-4147-A177-3AD203B41FA5}">
                      <a16:colId xmlns:a16="http://schemas.microsoft.com/office/drawing/2014/main" val="1760034158"/>
                    </a:ext>
                  </a:extLst>
                </a:gridCol>
                <a:gridCol w="1804737">
                  <a:extLst>
                    <a:ext uri="{9D8B030D-6E8A-4147-A177-3AD203B41FA5}">
                      <a16:colId xmlns:a16="http://schemas.microsoft.com/office/drawing/2014/main" val="725316432"/>
                    </a:ext>
                  </a:extLst>
                </a:gridCol>
                <a:gridCol w="1828801">
                  <a:extLst>
                    <a:ext uri="{9D8B030D-6E8A-4147-A177-3AD203B41FA5}">
                      <a16:colId xmlns:a16="http://schemas.microsoft.com/office/drawing/2014/main" val="4835941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Height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Relative Frequency or percentage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Cumulative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Cumulative Relative 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267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90-95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0.09523810 (9%)</a:t>
                      </a:r>
                      <a:endParaRPr lang="en-GB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0.09523810 (9%)</a:t>
                      </a:r>
                      <a:endParaRPr lang="en-GB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0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96-100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0.19047619 (19%)</a:t>
                      </a:r>
                      <a:endParaRPr lang="en-GB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0.2857143 (28%)</a:t>
                      </a:r>
                      <a:endParaRPr lang="en-GB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090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101-105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0.23809524 (24%)</a:t>
                      </a:r>
                      <a:endParaRPr lang="en-GB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0.5238095 (52%)</a:t>
                      </a:r>
                      <a:endParaRPr lang="en-GB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715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106-110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0.19047619 (19%)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0.7142857 (71%)</a:t>
                      </a:r>
                      <a:endParaRPr lang="en-GB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57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111-115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0.14285714 (14%)</a:t>
                      </a:r>
                      <a:endParaRPr lang="en-GB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0.8571429 (85%)</a:t>
                      </a:r>
                      <a:endParaRPr lang="en-GB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348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116-120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0.09523810 (9%)</a:t>
                      </a:r>
                      <a:endParaRPr lang="en-GB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0.9523810 (95%)</a:t>
                      </a:r>
                      <a:endParaRPr lang="en-GB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22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0.04761905 (4%)</a:t>
                      </a:r>
                      <a:endParaRPr lang="en-GB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1.0000000 (100%)</a:t>
                      </a:r>
                      <a:endParaRPr lang="en-GB" sz="1400" b="0" i="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3946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ECF605F-D8A7-11AF-9F64-4238628F532B}"/>
              </a:ext>
            </a:extLst>
          </p:cNvPr>
          <p:cNvSpPr txBox="1"/>
          <p:nvPr/>
        </p:nvSpPr>
        <p:spPr>
          <a:xfrm>
            <a:off x="9809617" y="278802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94, 95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CD8BE-756A-8A5C-0814-9D9E291A324A}"/>
              </a:ext>
            </a:extLst>
          </p:cNvPr>
          <p:cNvSpPr txBox="1"/>
          <p:nvPr/>
        </p:nvSpPr>
        <p:spPr>
          <a:xfrm>
            <a:off x="9809617" y="3157356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97, 97, 100, 100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AFAC2-82BB-92DC-7C34-91B5D655EFED}"/>
              </a:ext>
            </a:extLst>
          </p:cNvPr>
          <p:cNvSpPr txBox="1"/>
          <p:nvPr/>
        </p:nvSpPr>
        <p:spPr>
          <a:xfrm>
            <a:off x="9809617" y="3520906"/>
            <a:ext cx="238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101, 102, 103, 105, 105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74BD29-57DF-5129-5A59-7708CA79205B}"/>
              </a:ext>
            </a:extLst>
          </p:cNvPr>
          <p:cNvSpPr txBox="1"/>
          <p:nvPr/>
        </p:nvSpPr>
        <p:spPr>
          <a:xfrm>
            <a:off x="9809617" y="3890238"/>
            <a:ext cx="1920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108, 108, 109, 109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99596-3069-3369-29D2-DE80017988BD}"/>
              </a:ext>
            </a:extLst>
          </p:cNvPr>
          <p:cNvSpPr txBox="1"/>
          <p:nvPr/>
        </p:nvSpPr>
        <p:spPr>
          <a:xfrm>
            <a:off x="9809616" y="4259135"/>
            <a:ext cx="14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112, 113, 113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F6D416-741E-676C-D9D4-C9D853BAAE99}"/>
              </a:ext>
            </a:extLst>
          </p:cNvPr>
          <p:cNvSpPr txBox="1"/>
          <p:nvPr/>
        </p:nvSpPr>
        <p:spPr>
          <a:xfrm>
            <a:off x="9819377" y="4622685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118, 119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5A661F-4C3E-1077-702C-7E2D030B5B01}"/>
              </a:ext>
            </a:extLst>
          </p:cNvPr>
          <p:cNvSpPr txBox="1"/>
          <p:nvPr/>
        </p:nvSpPr>
        <p:spPr>
          <a:xfrm>
            <a:off x="9809616" y="499158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7BC874-AA0F-D89C-1D93-DD7C222E862D}"/>
              </a:ext>
            </a:extLst>
          </p:cNvPr>
          <p:cNvSpPr txBox="1"/>
          <p:nvPr/>
        </p:nvSpPr>
        <p:spPr>
          <a:xfrm>
            <a:off x="276728" y="5651294"/>
            <a:ext cx="9384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output is called a “</a:t>
            </a:r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Frequency Distribution table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”, it’s visual representation is a </a:t>
            </a:r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histogram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for the data’s </a:t>
            </a:r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relative frequency 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</a:t>
            </a:r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cumulative frequency plot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for the </a:t>
            </a:r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cumulative frequency</a:t>
            </a: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CFC0C6-C6B4-4BC4-ABAA-20C0755E9DDE}"/>
              </a:ext>
            </a:extLst>
          </p:cNvPr>
          <p:cNvSpPr txBox="1"/>
          <p:nvPr/>
        </p:nvSpPr>
        <p:spPr>
          <a:xfrm>
            <a:off x="9819377" y="2062264"/>
            <a:ext cx="2236694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group the data points accordingly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359CE7D5-9BFF-0D2C-38AD-88791FD2F93B}"/>
              </a:ext>
            </a:extLst>
          </p:cNvPr>
          <p:cNvSpPr txBox="1">
            <a:spLocks/>
          </p:cNvSpPr>
          <p:nvPr/>
        </p:nvSpPr>
        <p:spPr>
          <a:xfrm>
            <a:off x="11652000" y="6410094"/>
            <a:ext cx="435734" cy="42500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9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105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histogram&#10;&#10;Description automatically generated">
            <a:extLst>
              <a:ext uri="{FF2B5EF4-FFF2-40B4-BE49-F238E27FC236}">
                <a16:creationId xmlns:a16="http://schemas.microsoft.com/office/drawing/2014/main" id="{E66E9DF6-27A8-6145-6D43-53EFC3D92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93" y="506771"/>
            <a:ext cx="5418085" cy="46080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E60599A0-A8BB-4D5C-8505-2943FD7A4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267" y="506771"/>
            <a:ext cx="5630580" cy="46080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8CCCF83-B4F5-056F-B9D2-0D9F69EF3468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10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64395A-625D-03EE-7C2D-591025A1B1B4}"/>
              </a:ext>
            </a:extLst>
          </p:cNvPr>
          <p:cNvSpPr txBox="1"/>
          <p:nvPr/>
        </p:nvSpPr>
        <p:spPr>
          <a:xfrm>
            <a:off x="352193" y="5332876"/>
            <a:ext cx="11426654" cy="107721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Interpretation: </a:t>
            </a:r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above table output show the frequency distribution of heights (in cm) in kids who are 4 years of age entering in reception. The group with the highest frequency was 101-105 cm which accounts for 24% of the data. Health-wise, we can see from the cumulative frequency results that there are 6 kids with height values that are less than 101 cm. </a:t>
            </a:r>
            <a:r>
              <a:rPr lang="en-GB" sz="16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corresponds to </a:t>
            </a:r>
            <a:r>
              <a:rPr lang="en-GB" sz="1600" b="0" i="0" kern="1200" dirty="0">
                <a:solidFill>
                  <a:schemeClr val="dk1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0.2857</a:t>
            </a:r>
            <a:r>
              <a:rPr lang="en-GB" sz="16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(29%) of the data – descriptively, these 6 kids growth is a cause for concern. </a:t>
            </a:r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E6037D-620A-0EEC-4FEA-FB0A978FB44F}"/>
              </a:ext>
            </a:extLst>
          </p:cNvPr>
          <p:cNvCxnSpPr/>
          <p:nvPr/>
        </p:nvCxnSpPr>
        <p:spPr>
          <a:xfrm flipV="1">
            <a:off x="8187092" y="783496"/>
            <a:ext cx="0" cy="388620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58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310937-9810-114F-983E-4800E87EE95A}"/>
              </a:ext>
            </a:extLst>
          </p:cNvPr>
          <p:cNvSpPr/>
          <p:nvPr/>
        </p:nvSpPr>
        <p:spPr>
          <a:xfrm>
            <a:off x="0" y="1264"/>
            <a:ext cx="12192000" cy="6856736"/>
          </a:xfrm>
          <a:prstGeom prst="rect">
            <a:avLst/>
          </a:prstGeom>
          <a:solidFill>
            <a:srgbClr val="008CE6"/>
          </a:solidFill>
          <a:ln>
            <a:solidFill>
              <a:srgbClr val="0091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76F1414-123F-A64D-A741-24140E769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98" y="2950571"/>
            <a:ext cx="11233150" cy="1296988"/>
          </a:xfrm>
        </p:spPr>
        <p:txBody>
          <a:bodyPr/>
          <a:lstStyle/>
          <a:p>
            <a:pPr lvl="0" algn="ctr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3600" kern="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Summary Statistics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DD1A111-E725-81A7-2C9A-06E64A8FEACF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11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16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10CA-D529-5048-999F-A988678065B4}"/>
              </a:ext>
            </a:extLst>
          </p:cNvPr>
          <p:cNvSpPr txBox="1">
            <a:spLocks/>
          </p:cNvSpPr>
          <p:nvPr/>
        </p:nvSpPr>
        <p:spPr>
          <a:xfrm>
            <a:off x="1361746" y="1192733"/>
            <a:ext cx="8664943" cy="5001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600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Summary measures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273E1-FB33-F743-8909-D3C56A741EC3}"/>
              </a:ext>
            </a:extLst>
          </p:cNvPr>
          <p:cNvSpPr txBox="1">
            <a:spLocks/>
          </p:cNvSpPr>
          <p:nvPr/>
        </p:nvSpPr>
        <p:spPr>
          <a:xfrm>
            <a:off x="1061764" y="2032472"/>
            <a:ext cx="9932655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60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5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What kinds of analysis and summary statistics can you perform on a particular type of dataset?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6300F3B-18A8-B141-AF17-392E105C2EBB}"/>
              </a:ext>
            </a:extLst>
          </p:cNvPr>
          <p:cNvSpPr txBox="1">
            <a:spLocks/>
          </p:cNvSpPr>
          <p:nvPr/>
        </p:nvSpPr>
        <p:spPr>
          <a:xfrm>
            <a:off x="973628" y="3089991"/>
            <a:ext cx="4384781" cy="325089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1. Categorical Data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C89BE9D-52E6-7A4C-AFD8-9A598368F704}"/>
              </a:ext>
            </a:extLst>
          </p:cNvPr>
          <p:cNvSpPr txBox="1">
            <a:spLocks/>
          </p:cNvSpPr>
          <p:nvPr/>
        </p:nvSpPr>
        <p:spPr>
          <a:xfrm>
            <a:off x="6745455" y="3572432"/>
            <a:ext cx="4384781" cy="20005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60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You can perform the following analysis: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Compute the mode (value that occur most)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Compute the median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Compute the mean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Lowest (Minimum) &amp; Highest (Maximum)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Percentiles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Variance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Standard deviation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Range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Quartiles and Interquartile ranges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B58729-2525-4541-84D8-45E2F8A7C5DC}"/>
              </a:ext>
            </a:extLst>
          </p:cNvPr>
          <p:cNvSpPr txBox="1">
            <a:spLocks/>
          </p:cNvSpPr>
          <p:nvPr/>
        </p:nvSpPr>
        <p:spPr>
          <a:xfrm>
            <a:off x="1061764" y="3572432"/>
            <a:ext cx="4891088" cy="14003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60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You can group the data by according to categories and perform the following: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Compute the Frequencies (counts)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Compute the Percentages (or Relative Frequency)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Calculate the Cumulative Frequencies or Cumulative Percentages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Graphical approaches also include bar plots and pie charts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sz="1300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The Mode (category with that occurs most)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12B19C8-55AF-E648-B881-4B4444FC21CA}"/>
              </a:ext>
            </a:extLst>
          </p:cNvPr>
          <p:cNvSpPr txBox="1">
            <a:spLocks/>
          </p:cNvSpPr>
          <p:nvPr/>
        </p:nvSpPr>
        <p:spPr>
          <a:xfrm>
            <a:off x="5641908" y="3089926"/>
            <a:ext cx="4384781" cy="325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60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13" b="1" kern="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2. Numerical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9D6AAE-83A9-9143-834D-DC7C4C12E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55"/>
            <a:ext cx="12192000" cy="97006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B3137B0-3292-FB4F-B511-E0D1FC3FA925}"/>
              </a:ext>
            </a:extLst>
          </p:cNvPr>
          <p:cNvSpPr/>
          <p:nvPr/>
        </p:nvSpPr>
        <p:spPr>
          <a:xfrm>
            <a:off x="6312665" y="2952520"/>
            <a:ext cx="4817571" cy="305167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A77E185E-8605-838E-4168-6ACD26846364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12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9C772-104D-395B-1277-2B9465D8B3FD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99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F2002-46BF-77CB-3517-15772CA60AE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347969" cy="6511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altLang="en-US" sz="3600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Format of today’s lesson goes…</a:t>
            </a:r>
            <a:endParaRPr lang="en-GB" sz="3600" b="1" cap="all" dirty="0">
              <a:solidFill>
                <a:prstClr val="black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alibri 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B45D1-94D2-6A47-F184-084CBB304433}"/>
              </a:ext>
            </a:extLst>
          </p:cNvPr>
          <p:cNvSpPr txBox="1"/>
          <p:nvPr/>
        </p:nvSpPr>
        <p:spPr>
          <a:xfrm>
            <a:off x="2279363" y="2087959"/>
            <a:ext cx="2063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Theory &amp; Application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0D935D-AC51-49E7-BA0F-0F3537BD832D}"/>
              </a:ext>
            </a:extLst>
          </p:cNvPr>
          <p:cNvSpPr txBox="1"/>
          <p:nvPr/>
        </p:nvSpPr>
        <p:spPr>
          <a:xfrm>
            <a:off x="2279363" y="2842296"/>
            <a:ext cx="16674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15-minute break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F9AD59-53BF-8654-26B9-80FBB9244F8D}"/>
              </a:ext>
            </a:extLst>
          </p:cNvPr>
          <p:cNvSpPr txBox="1"/>
          <p:nvPr/>
        </p:nvSpPr>
        <p:spPr>
          <a:xfrm>
            <a:off x="2279363" y="4455412"/>
            <a:ext cx="2919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Live demonstration in RStudio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5B167-690E-1384-9330-C0E47FF580E2}"/>
              </a:ext>
            </a:extLst>
          </p:cNvPr>
          <p:cNvSpPr txBox="1"/>
          <p:nvPr/>
        </p:nvSpPr>
        <p:spPr>
          <a:xfrm>
            <a:off x="2279363" y="3596633"/>
            <a:ext cx="2220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Presentation of results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A2D0EEE-25C9-421F-D9A5-D67B3E5ED9B7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13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516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310937-9810-114F-983E-4800E87EE95A}"/>
              </a:ext>
            </a:extLst>
          </p:cNvPr>
          <p:cNvSpPr/>
          <p:nvPr/>
        </p:nvSpPr>
        <p:spPr>
          <a:xfrm>
            <a:off x="0" y="0"/>
            <a:ext cx="12192000" cy="6889413"/>
          </a:xfrm>
          <a:prstGeom prst="rect">
            <a:avLst/>
          </a:prstGeom>
          <a:solidFill>
            <a:srgbClr val="008CE6"/>
          </a:solidFill>
          <a:ln>
            <a:solidFill>
              <a:srgbClr val="0091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76F1414-123F-A64D-A741-24140E769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98" y="2950571"/>
            <a:ext cx="11233150" cy="1296988"/>
          </a:xfrm>
        </p:spPr>
        <p:txBody>
          <a:bodyPr/>
          <a:lstStyle/>
          <a:p>
            <a:pPr lvl="0" algn="ctr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3600" b="1" kern="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Lecture</a:t>
            </a:r>
          </a:p>
        </p:txBody>
      </p:sp>
      <p:pic>
        <p:nvPicPr>
          <p:cNvPr id="19" name="Online Media 18" descr="Episode Title - Dragon Ball Z (Anime) Music">
            <a:hlinkClick r:id="" action="ppaction://media"/>
            <a:extLst>
              <a:ext uri="{FF2B5EF4-FFF2-40B4-BE49-F238E27FC236}">
                <a16:creationId xmlns:a16="http://schemas.microsoft.com/office/drawing/2014/main" id="{B61A8934-2850-CFBA-016A-C833CF513C5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247940" y="5454313"/>
            <a:ext cx="2540000" cy="1435100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16CCAA-4309-1B82-4AD4-2F96D9962230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14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85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851106-A7A8-0A45-80DF-4ECC2773E065}"/>
              </a:ext>
            </a:extLst>
          </p:cNvPr>
          <p:cNvSpPr txBox="1">
            <a:spLocks/>
          </p:cNvSpPr>
          <p:nvPr/>
        </p:nvSpPr>
        <p:spPr>
          <a:xfrm>
            <a:off x="4295699" y="1188432"/>
            <a:ext cx="3872976" cy="4006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GB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Central</a:t>
            </a:r>
            <a:r>
              <a:rPr lang="en-GB" sz="2800" spc="-1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sz="2800" spc="-5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Tendency</a:t>
            </a:r>
            <a:endParaRPr lang="en-GB" sz="2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449AABA-42F0-D34D-82A3-9553E6DAEF9F}"/>
              </a:ext>
            </a:extLst>
          </p:cNvPr>
          <p:cNvSpPr txBox="1"/>
          <p:nvPr/>
        </p:nvSpPr>
        <p:spPr>
          <a:xfrm>
            <a:off x="883185" y="1857261"/>
            <a:ext cx="10972799" cy="11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58750" indent="-343535">
              <a:lnSpc>
                <a:spcPct val="11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Indicate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the location </a:t>
            </a: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of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the </a:t>
            </a: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middle or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the cent</a:t>
            </a:r>
            <a:r>
              <a:rPr lang="en-GB"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re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of a</a:t>
            </a:r>
            <a:r>
              <a:rPr sz="2400" spc="4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distribution</a:t>
            </a:r>
            <a:endParaRPr sz="2400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>
              <a:spcBef>
                <a:spcPts val="20"/>
              </a:spcBef>
              <a:buFont typeface="Arial"/>
              <a:buChar char="•"/>
            </a:pPr>
            <a:endParaRPr sz="2400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 marL="355600" marR="5080" indent="-343535">
              <a:lnSpc>
                <a:spcPct val="11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Central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tendency is the </a:t>
            </a:r>
            <a:r>
              <a:rPr sz="24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point </a:t>
            </a: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at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which the distribution is in</a:t>
            </a:r>
            <a:r>
              <a:rPr sz="2400" spc="7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balance</a:t>
            </a:r>
            <a:endParaRPr sz="2400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32C100-D075-0540-A8FD-57A67DD1F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177" y="3429000"/>
            <a:ext cx="7129671" cy="25724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4B0F86-BE95-6B45-B495-2E239E176576}"/>
              </a:ext>
            </a:extLst>
          </p:cNvPr>
          <p:cNvSpPr/>
          <p:nvPr/>
        </p:nvSpPr>
        <p:spPr>
          <a:xfrm>
            <a:off x="4098664" y="3367396"/>
            <a:ext cx="2818504" cy="13330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5D736E-1DC4-DE4F-A340-EADDD8566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55"/>
            <a:ext cx="12192000" cy="970069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4AF9E67-A9C3-9ABE-4466-CF6E3C2E49E3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15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2BDCBD-9928-5834-4E11-0737AACF39EC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39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851106-A7A8-0A45-80DF-4ECC2773E065}"/>
              </a:ext>
            </a:extLst>
          </p:cNvPr>
          <p:cNvSpPr txBox="1">
            <a:spLocks/>
          </p:cNvSpPr>
          <p:nvPr/>
        </p:nvSpPr>
        <p:spPr>
          <a:xfrm>
            <a:off x="3089684" y="1215458"/>
            <a:ext cx="7755255" cy="4006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GB" sz="2800" spc="-5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Measures </a:t>
            </a:r>
            <a:r>
              <a:rPr lang="en-GB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Central</a:t>
            </a:r>
            <a:r>
              <a:rPr lang="en-GB" sz="2800" spc="-1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sz="2800" spc="-5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Tendency</a:t>
            </a:r>
            <a:endParaRPr lang="en-GB" sz="2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449AABA-42F0-D34D-82A3-9553E6DAEF9F}"/>
              </a:ext>
            </a:extLst>
          </p:cNvPr>
          <p:cNvSpPr txBox="1"/>
          <p:nvPr/>
        </p:nvSpPr>
        <p:spPr>
          <a:xfrm>
            <a:off x="883185" y="1857261"/>
            <a:ext cx="10972799" cy="11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58750" indent="-343535">
              <a:lnSpc>
                <a:spcPct val="11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Indicate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the location </a:t>
            </a: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of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the </a:t>
            </a: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middle or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the cent</a:t>
            </a:r>
            <a:r>
              <a:rPr lang="en-GB"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re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of a</a:t>
            </a:r>
            <a:r>
              <a:rPr sz="2400" spc="4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distribution</a:t>
            </a:r>
            <a:endParaRPr sz="2400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>
              <a:spcBef>
                <a:spcPts val="20"/>
              </a:spcBef>
              <a:buFont typeface="Arial"/>
              <a:buChar char="•"/>
            </a:pPr>
            <a:endParaRPr sz="2400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 marL="355600" marR="5080" indent="-343535">
              <a:lnSpc>
                <a:spcPct val="11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Central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tendency is the </a:t>
            </a:r>
            <a:r>
              <a:rPr sz="24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point </a:t>
            </a: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at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which the distribution is in</a:t>
            </a:r>
            <a:r>
              <a:rPr sz="2400" spc="7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balance</a:t>
            </a:r>
            <a:endParaRPr sz="2400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32C100-D075-0540-A8FD-57A67DD1F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177" y="3429000"/>
            <a:ext cx="7129671" cy="25724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4B0F86-BE95-6B45-B495-2E239E176576}"/>
              </a:ext>
            </a:extLst>
          </p:cNvPr>
          <p:cNvSpPr/>
          <p:nvPr/>
        </p:nvSpPr>
        <p:spPr>
          <a:xfrm>
            <a:off x="2003312" y="4858438"/>
            <a:ext cx="4584775" cy="13330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5D736E-1DC4-DE4F-A340-EADDD8566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55"/>
            <a:ext cx="12192000" cy="970069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74FCC55-75F6-7A2E-707D-E472D81CE762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16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1259F8-CD3E-CE12-DE3B-45B7C5A1C898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0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5587" y="998396"/>
            <a:ext cx="1520825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400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Mean</a:t>
            </a:r>
          </a:p>
        </p:txBody>
      </p:sp>
      <p:sp>
        <p:nvSpPr>
          <p:cNvPr id="3" name="object 3"/>
          <p:cNvSpPr/>
          <p:nvPr/>
        </p:nvSpPr>
        <p:spPr>
          <a:xfrm>
            <a:off x="152399" y="1824044"/>
            <a:ext cx="11810999" cy="2628900"/>
          </a:xfrm>
          <a:custGeom>
            <a:avLst/>
            <a:gdLst/>
            <a:ahLst/>
            <a:cxnLst/>
            <a:rect l="l" t="t" r="r" b="b"/>
            <a:pathLst>
              <a:path w="7239000" h="2628900">
                <a:moveTo>
                  <a:pt x="0" y="2628900"/>
                </a:moveTo>
                <a:lnTo>
                  <a:pt x="7239000" y="2628900"/>
                </a:lnTo>
                <a:lnTo>
                  <a:pt x="7239000" y="0"/>
                </a:lnTo>
                <a:lnTo>
                  <a:pt x="0" y="0"/>
                </a:lnTo>
                <a:lnTo>
                  <a:pt x="0" y="262890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399" y="1814732"/>
            <a:ext cx="11810999" cy="2628900"/>
          </a:xfrm>
          <a:custGeom>
            <a:avLst/>
            <a:gdLst/>
            <a:ahLst/>
            <a:cxnLst/>
            <a:rect l="l" t="t" r="r" b="b"/>
            <a:pathLst>
              <a:path w="7239000" h="2628900">
                <a:moveTo>
                  <a:pt x="0" y="2628900"/>
                </a:moveTo>
                <a:lnTo>
                  <a:pt x="7239000" y="2628900"/>
                </a:lnTo>
                <a:lnTo>
                  <a:pt x="7239000" y="0"/>
                </a:lnTo>
                <a:lnTo>
                  <a:pt x="0" y="0"/>
                </a:lnTo>
                <a:lnTo>
                  <a:pt x="0" y="262890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0999" y="1934212"/>
            <a:ext cx="11430000" cy="213648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54965" indent="-342900">
              <a:spcBef>
                <a:spcPts val="10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Arithmetic </a:t>
            </a:r>
            <a:r>
              <a:rPr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Mean</a:t>
            </a:r>
            <a:r>
              <a:rPr lang="en-GB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 (also referred as the word </a:t>
            </a:r>
            <a:r>
              <a:rPr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Average</a:t>
            </a:r>
            <a:r>
              <a:rPr lang="en-GB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) is a central estimate</a:t>
            </a:r>
          </a:p>
          <a:p>
            <a:pPr marL="354965" indent="-342900">
              <a:spcBef>
                <a:spcPts val="10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5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Takes </a:t>
            </a:r>
            <a:r>
              <a:rPr sz="20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into </a:t>
            </a:r>
            <a:r>
              <a:rPr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account </a:t>
            </a:r>
            <a:r>
              <a:rPr sz="20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all</a:t>
            </a:r>
            <a:r>
              <a:rPr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 </a:t>
            </a:r>
            <a:r>
              <a:rPr sz="20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values</a:t>
            </a:r>
            <a:endParaRPr sz="2000" dirty="0">
              <a:latin typeface="Helvetica Neue Light" panose="02000403000000020004" pitchFamily="2" charset="0"/>
              <a:ea typeface="Helvetica Neue Light" panose="02000403000000020004" pitchFamily="2" charset="0"/>
              <a:cs typeface="Verdana"/>
            </a:endParaRPr>
          </a:p>
          <a:p>
            <a:pPr marL="354965" indent="-342900">
              <a:spcBef>
                <a:spcPts val="9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Mean is the </a:t>
            </a:r>
            <a:r>
              <a:rPr sz="20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preferred measure </a:t>
            </a:r>
            <a:r>
              <a:rPr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of </a:t>
            </a:r>
            <a:r>
              <a:rPr sz="20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central</a:t>
            </a:r>
            <a:r>
              <a:rPr sz="2000" spc="-16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 </a:t>
            </a:r>
            <a:r>
              <a:rPr sz="2000" spc="-2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tendency,</a:t>
            </a:r>
            <a:endParaRPr sz="2000" dirty="0">
              <a:latin typeface="Helvetica Neue Light" panose="02000403000000020004" pitchFamily="2" charset="0"/>
              <a:ea typeface="Helvetica Neue Light" panose="02000403000000020004" pitchFamily="2" charset="0"/>
              <a:cs typeface="Verdana"/>
            </a:endParaRPr>
          </a:p>
          <a:p>
            <a:pPr marL="354965">
              <a:spcBef>
                <a:spcPts val="480"/>
              </a:spcBef>
            </a:pPr>
            <a:r>
              <a:rPr sz="20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except </a:t>
            </a:r>
            <a:r>
              <a:rPr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when </a:t>
            </a:r>
            <a:r>
              <a:rPr sz="20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there are extreme</a:t>
            </a:r>
            <a:r>
              <a:rPr sz="2000" spc="-85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 </a:t>
            </a:r>
            <a:r>
              <a:rPr sz="20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values</a:t>
            </a:r>
            <a:endParaRPr sz="2000" dirty="0">
              <a:latin typeface="Helvetica Neue Light" panose="02000403000000020004" pitchFamily="2" charset="0"/>
              <a:ea typeface="Helvetica Neue Light" panose="02000403000000020004" pitchFamily="2" charset="0"/>
              <a:cs typeface="Verdana"/>
            </a:endParaRPr>
          </a:p>
          <a:p>
            <a:pPr marL="354965" indent="-342900">
              <a:spcBef>
                <a:spcPts val="9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Easily distorted by extreme</a:t>
            </a:r>
            <a:r>
              <a:rPr sz="2000" spc="-35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 </a:t>
            </a:r>
            <a:r>
              <a:rPr sz="20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values</a:t>
            </a:r>
            <a:endParaRPr sz="2000" dirty="0">
              <a:latin typeface="Helvetica Neue Light" panose="02000403000000020004" pitchFamily="2" charset="0"/>
              <a:ea typeface="Helvetica Neue Light" panose="02000403000000020004" pitchFamily="2" charset="0"/>
              <a:cs typeface="Verdan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1186728" y="6011409"/>
                <a:ext cx="9410002" cy="657488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spcBef>
                    <a:spcPts val="2585"/>
                  </a:spcBef>
                </a:pPr>
                <a:r>
                  <a:rPr lang="en-GB" sz="2000" b="1" dirty="0">
                    <a:latin typeface="HELVETICA NEUE LIGHT" panose="02000403000000020004" pitchFamily="2" charset="0"/>
                    <a:ea typeface="HELVETICA NEUE LIGHT" panose="02000403000000020004" pitchFamily="2" charset="0"/>
                    <a:cs typeface="Verdana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1" i="1" smtClean="0">
                            <a:latin typeface="Cambria Math" panose="02040503050406030204" pitchFamily="18" charset="0"/>
                            <a:cs typeface="Verdana"/>
                          </a:rPr>
                        </m:ctrlPr>
                      </m:sSub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ar-AE" sz="2000" b="1" i="1" smtClean="0">
                                <a:latin typeface="Cambria Math" panose="02040503050406030204" pitchFamily="18" charset="0"/>
                                <a:cs typeface="Verdana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ar-AE" sz="2000" b="1" i="0" smtClean="0">
                                <a:latin typeface="Cambria Math" panose="02040503050406030204" pitchFamily="18" charset="0"/>
                                <a:cs typeface="Verdana"/>
                              </a:rPr>
                              <m:t>𝐱</m:t>
                            </m:r>
                          </m:e>
                        </m:nary>
                      </m:e>
                      <m:sub>
                        <m:r>
                          <a:rPr lang="en-GB" sz="2000" b="1" i="0" smtClean="0">
                            <a:latin typeface="Cambria Math" panose="02040503050406030204" pitchFamily="18" charset="0"/>
                            <a:cs typeface="Verdana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ar-AE" sz="2000" b="1" dirty="0">
                    <a:latin typeface="HELVETICA NEUE LIGHT" panose="02000403000000020004" pitchFamily="2" charset="0"/>
                    <a:ea typeface="HELVETICA NEUE LIGHT" panose="02000403000000020004" pitchFamily="2" charset="0"/>
                    <a:cs typeface="Verdana"/>
                  </a:rPr>
                  <a:t> </a:t>
                </a:r>
                <a:r>
                  <a:rPr lang="en-GB" sz="2000" b="1" spc="-5" dirty="0">
                    <a:latin typeface="HELVETICA NEUE LIGHT" panose="02000403000000020004" pitchFamily="2" charset="0"/>
                    <a:ea typeface="HELVETICA NEUE LIGHT" panose="02000403000000020004" pitchFamily="2" charset="0"/>
                    <a:cs typeface="Verdana"/>
                  </a:rPr>
                  <a:t>represents the </a:t>
                </a:r>
                <a:r>
                  <a:rPr lang="en-GB" sz="2000" b="1" dirty="0">
                    <a:latin typeface="HELVETICA NEUE LIGHT" panose="02000403000000020004" pitchFamily="2" charset="0"/>
                    <a:ea typeface="HELVETICA NEUE LIGHT" panose="02000403000000020004" pitchFamily="2" charset="0"/>
                    <a:cs typeface="Verdana"/>
                  </a:rPr>
                  <a:t>sum of all</a:t>
                </a:r>
                <a:r>
                  <a:rPr lang="en-GB" sz="2000" b="1" spc="-120" dirty="0">
                    <a:latin typeface="HELVETICA NEUE LIGHT" panose="02000403000000020004" pitchFamily="2" charset="0"/>
                    <a:ea typeface="HELVETICA NEUE LIGHT" panose="02000403000000020004" pitchFamily="2" charset="0"/>
                    <a:cs typeface="Verdana"/>
                  </a:rPr>
                  <a:t> </a:t>
                </a:r>
                <a:r>
                  <a:rPr lang="en-GB" sz="2000" b="1" dirty="0">
                    <a:latin typeface="HELVETICA NEUE LIGHT" panose="02000403000000020004" pitchFamily="2" charset="0"/>
                    <a:ea typeface="HELVETICA NEUE LIGHT" panose="02000403000000020004" pitchFamily="2" charset="0"/>
                    <a:cs typeface="Verdana"/>
                  </a:rPr>
                  <a:t>observations and ‘n’ </a:t>
                </a:r>
                <a:r>
                  <a:rPr lang="en-GB" sz="2000" b="1" spc="-5" dirty="0">
                    <a:latin typeface="HELVETICA NEUE LIGHT" panose="02000403000000020004" pitchFamily="2" charset="0"/>
                    <a:ea typeface="HELVETICA NEUE LIGHT" panose="02000403000000020004" pitchFamily="2" charset="0"/>
                    <a:cs typeface="Verdana"/>
                  </a:rPr>
                  <a:t>is the </a:t>
                </a:r>
                <a:r>
                  <a:rPr lang="en-GB" sz="2000" b="1" dirty="0">
                    <a:latin typeface="HELVETICA NEUE LIGHT" panose="02000403000000020004" pitchFamily="2" charset="0"/>
                    <a:ea typeface="HELVETICA NEUE LIGHT" panose="02000403000000020004" pitchFamily="2" charset="0"/>
                    <a:cs typeface="Verdana"/>
                  </a:rPr>
                  <a:t>number of observations </a:t>
                </a:r>
                <a:r>
                  <a:rPr lang="en-GB" sz="2000" b="1" spc="-5" dirty="0">
                    <a:latin typeface="HELVETICA NEUE LIGHT" panose="02000403000000020004" pitchFamily="2" charset="0"/>
                    <a:ea typeface="HELVETICA NEUE LIGHT" panose="02000403000000020004" pitchFamily="2" charset="0"/>
                    <a:cs typeface="Verdana"/>
                  </a:rPr>
                  <a:t>in the</a:t>
                </a:r>
                <a:r>
                  <a:rPr lang="en-GB" sz="2000" b="1" spc="-170" dirty="0">
                    <a:latin typeface="HELVETICA NEUE LIGHT" panose="02000403000000020004" pitchFamily="2" charset="0"/>
                    <a:ea typeface="HELVETICA NEUE LIGHT" panose="02000403000000020004" pitchFamily="2" charset="0"/>
                    <a:cs typeface="Verdana"/>
                  </a:rPr>
                  <a:t> </a:t>
                </a:r>
                <a:r>
                  <a:rPr lang="en-GB" sz="2000" b="1" dirty="0">
                    <a:latin typeface="HELVETICA NEUE LIGHT" panose="02000403000000020004" pitchFamily="2" charset="0"/>
                    <a:ea typeface="HELVETICA NEUE LIGHT" panose="02000403000000020004" pitchFamily="2" charset="0"/>
                    <a:cs typeface="Verdana"/>
                  </a:rPr>
                  <a:t>sample. The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</m:oMath>
                </a14:m>
                <a:r>
                  <a:rPr lang="en-GB" sz="2000" b="1" dirty="0">
                    <a:latin typeface="HELVETICA NEUE LIGHT" panose="02000403000000020004" pitchFamily="2" charset="0"/>
                    <a:ea typeface="HELVETICA NEUE LIGHT" panose="02000403000000020004" pitchFamily="2" charset="0"/>
                    <a:cs typeface="Verdana"/>
                  </a:rPr>
                  <a:t> represent the mean</a:t>
                </a:r>
                <a:endParaRPr sz="2000" b="1" dirty="0">
                  <a:latin typeface="HELVETICA NEUE LIGHT" panose="02000403000000020004" pitchFamily="2" charset="0"/>
                  <a:ea typeface="HELVETICA NEUE LIGHT" panose="02000403000000020004" pitchFamily="2" charset="0"/>
                  <a:cs typeface="Verdana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28" y="6011409"/>
                <a:ext cx="9410002" cy="657488"/>
              </a:xfrm>
              <a:prstGeom prst="rect">
                <a:avLst/>
              </a:prstGeom>
              <a:blipFill>
                <a:blip r:embed="rId3"/>
                <a:stretch>
                  <a:fillRect l="-1482" t="-75472" b="-6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24B1C0-F93F-C449-A21E-432DD28F007D}"/>
                  </a:ext>
                </a:extLst>
              </p:cNvPr>
              <p:cNvSpPr txBox="1"/>
              <p:nvPr/>
            </p:nvSpPr>
            <p:spPr>
              <a:xfrm>
                <a:off x="2455844" y="4634242"/>
                <a:ext cx="6629400" cy="1177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GB" sz="36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en-GB" sz="3600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3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GB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600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sz="36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rPr>
                              <m:sty m:val="p"/>
                            </m:rPr>
                            <a:rPr lang="en-GB" sz="36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US" sz="3600" dirty="0">
                  <a:latin typeface="Helvetica Neue Light" panose="02000403000000020004" pitchFamily="2" charset="0"/>
                  <a:ea typeface="Helvetica Neue Light" panose="02000403000000020004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24B1C0-F93F-C449-A21E-432DD28F0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844" y="4634242"/>
                <a:ext cx="6629400" cy="1177245"/>
              </a:xfrm>
              <a:prstGeom prst="rect">
                <a:avLst/>
              </a:prstGeom>
              <a:blipFill>
                <a:blip r:embed="rId4"/>
                <a:stretch>
                  <a:fillRect t="-77660" b="-702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DFAD0B1-7D05-0846-86B6-26B3477A7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55"/>
            <a:ext cx="12192000" cy="970069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57F8E9E-EB29-A757-2053-2B13F126E308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17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069C1-3564-03EA-DDAD-5CF288F23546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499" y="1444484"/>
            <a:ext cx="11130449" cy="512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GB" sz="36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Example of Summarising Numerical Data using Mean</a:t>
            </a:r>
            <a:endParaRPr sz="3600" dirty="0">
              <a:latin typeface="Helvetica Neue Light" panose="02000403000000020004" pitchFamily="2" charset="0"/>
              <a:ea typeface="Helvetica Neue Light" panose="02000403000000020004" pitchFamily="2" charset="0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3025C7-D401-6C44-99B0-039051333A8A}"/>
                  </a:ext>
                </a:extLst>
              </p:cNvPr>
              <p:cNvSpPr txBox="1"/>
              <p:nvPr/>
            </p:nvSpPr>
            <p:spPr>
              <a:xfrm>
                <a:off x="533400" y="2494864"/>
                <a:ext cx="111252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Finding the mean from these 9 data points: 13, 18, 13, 14, 13, 16, 14, 21, 13</a:t>
                </a:r>
              </a:p>
              <a:p>
                <a:endParaRPr lang="en-US" dirty="0">
                  <a:latin typeface="Helvetica Neue Thin" panose="020B0403020202020204" pitchFamily="34" charset="0"/>
                  <a:ea typeface="Helvetica Neue Thin" panose="020B0403020202020204" pitchFamily="34" charset="0"/>
                </a:endParaRPr>
              </a:p>
              <a:p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n = 9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 represents each of these observations.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=13, 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 = 18,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 = 13, …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 = 13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 represents the mean which is to be calculated when summing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 and dividing by n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3025C7-D401-6C44-99B0-039051333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494864"/>
                <a:ext cx="11125200" cy="1477328"/>
              </a:xfrm>
              <a:prstGeom prst="rect">
                <a:avLst/>
              </a:prstGeom>
              <a:blipFill>
                <a:blip r:embed="rId2"/>
                <a:stretch>
                  <a:fillRect l="-570" t="-1709" b="-59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F36A55-3260-3443-9632-0A61F39B4136}"/>
                  </a:ext>
                </a:extLst>
              </p:cNvPr>
              <p:cNvSpPr txBox="1"/>
              <p:nvPr/>
            </p:nvSpPr>
            <p:spPr>
              <a:xfrm>
                <a:off x="571500" y="4463537"/>
                <a:ext cx="11049000" cy="1735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Solution:</a:t>
                </a:r>
              </a:p>
              <a:p>
                <a:endParaRPr lang="en-US" dirty="0">
                  <a:latin typeface="Helvetica Neue Thin" panose="020B0403020202020204" pitchFamily="34" charset="0"/>
                  <a:ea typeface="Helvetica Neue Thin" panose="020B0403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0" smtClean="0">
                              <a:latin typeface="Cambria Math" panose="02040503050406030204" pitchFamily="18" charset="0"/>
                            </a:rPr>
                            <m:t>(13+18+13+14+13+16+14+21+13)</m:t>
                          </m:r>
                        </m:num>
                        <m:den>
                          <m:r>
                            <a:rPr lang="en-GB" b="0" i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US" dirty="0">
                  <a:latin typeface="Helvetica Neue Thin" panose="020B0403020202020204" pitchFamily="34" charset="0"/>
                  <a:ea typeface="Helvetica Neue Thin" panose="020B0403020202020204" pitchFamily="34" charset="0"/>
                </a:endParaRPr>
              </a:p>
              <a:p>
                <a:pPr algn="ctr"/>
                <a:endParaRPr lang="en-US" dirty="0">
                  <a:latin typeface="Helvetica Neue Thin" panose="020B0403020202020204" pitchFamily="34" charset="0"/>
                  <a:ea typeface="Helvetica Neue Thin" panose="020B0403020202020204" pitchFamily="34" charset="0"/>
                </a:endParaRPr>
              </a:p>
              <a:p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Average or central value from that dataset is 15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F36A55-3260-3443-9632-0A61F39B4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4463537"/>
                <a:ext cx="11049000" cy="1735796"/>
              </a:xfrm>
              <a:prstGeom prst="rect">
                <a:avLst/>
              </a:prstGeom>
              <a:blipFill>
                <a:blip r:embed="rId3"/>
                <a:stretch>
                  <a:fillRect l="-575" t="-1449" b="-4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6EF16A7-20BF-984C-90E6-5059181D0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55"/>
            <a:ext cx="12192000" cy="9700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5F7780-7DF9-064B-8CEA-E5DD5A6043DA}"/>
              </a:ext>
            </a:extLst>
          </p:cNvPr>
          <p:cNvSpPr/>
          <p:nvPr/>
        </p:nvSpPr>
        <p:spPr>
          <a:xfrm>
            <a:off x="7866044" y="4831498"/>
            <a:ext cx="4109292" cy="970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b="1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In RStudio, the code for this would be:</a:t>
            </a:r>
          </a:p>
          <a:p>
            <a:endParaRPr lang="en-GB" sz="1400" b="1" dirty="0">
              <a:solidFill>
                <a:schemeClr val="tx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GB" sz="1400" b="1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datapoints &lt;- c(13, 18, 13, 14, 13, 16, 14, 21,13)</a:t>
            </a:r>
          </a:p>
          <a:p>
            <a:r>
              <a:rPr lang="en-GB" sz="1400" b="1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mean(datapoints)</a:t>
            </a:r>
          </a:p>
          <a:p>
            <a:r>
              <a:rPr lang="en-GB" sz="1400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8529AA8-55DB-0AD4-5B4D-FDF974C45874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18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77A44B-5EC0-28D6-7A30-A74B2DA0F0F3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82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4445" y="1347950"/>
            <a:ext cx="2023110" cy="6228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Median</a:t>
            </a:r>
          </a:p>
        </p:txBody>
      </p:sp>
      <p:sp>
        <p:nvSpPr>
          <p:cNvPr id="3" name="object 3"/>
          <p:cNvSpPr/>
          <p:nvPr/>
        </p:nvSpPr>
        <p:spPr>
          <a:xfrm>
            <a:off x="294672" y="2359067"/>
            <a:ext cx="11602656" cy="2677795"/>
          </a:xfrm>
          <a:custGeom>
            <a:avLst/>
            <a:gdLst/>
            <a:ahLst/>
            <a:cxnLst/>
            <a:rect l="l" t="t" r="r" b="b"/>
            <a:pathLst>
              <a:path w="7775575" h="2677795">
                <a:moveTo>
                  <a:pt x="0" y="2677668"/>
                </a:moveTo>
                <a:lnTo>
                  <a:pt x="7775448" y="2677668"/>
                </a:lnTo>
                <a:lnTo>
                  <a:pt x="7775448" y="0"/>
                </a:lnTo>
                <a:lnTo>
                  <a:pt x="0" y="0"/>
                </a:lnTo>
                <a:lnTo>
                  <a:pt x="0" y="2677668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4672" y="2356027"/>
            <a:ext cx="11602656" cy="2714541"/>
          </a:xfrm>
          <a:custGeom>
            <a:avLst/>
            <a:gdLst/>
            <a:ahLst/>
            <a:cxnLst/>
            <a:rect l="l" t="t" r="r" b="b"/>
            <a:pathLst>
              <a:path w="7775575" h="2677795">
                <a:moveTo>
                  <a:pt x="0" y="2677668"/>
                </a:moveTo>
                <a:lnTo>
                  <a:pt x="7775448" y="2677668"/>
                </a:lnTo>
                <a:lnTo>
                  <a:pt x="7775448" y="0"/>
                </a:lnTo>
                <a:lnTo>
                  <a:pt x="0" y="0"/>
                </a:lnTo>
                <a:lnTo>
                  <a:pt x="0" y="2677668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5434" y="2467826"/>
            <a:ext cx="10641246" cy="1957587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469900" marR="5080" indent="-457200">
              <a:spcBef>
                <a:spcPts val="1685"/>
              </a:spcBef>
              <a:buFont typeface="Arial" panose="020B0604020202020204" pitchFamily="34" charset="0"/>
              <a:buChar char="•"/>
            </a:pPr>
            <a:r>
              <a:rPr lang="en-GB" sz="28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Median is the exact middle value</a:t>
            </a:r>
          </a:p>
          <a:p>
            <a:pPr marL="469900" marR="5080" indent="-457200">
              <a:spcBef>
                <a:spcPts val="1685"/>
              </a:spcBef>
              <a:buFont typeface="Arial" panose="020B0604020202020204" pitchFamily="34" charset="0"/>
              <a:buChar char="•"/>
            </a:pPr>
            <a:r>
              <a:rPr sz="28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Half </a:t>
            </a:r>
            <a:r>
              <a:rPr sz="28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of the </a:t>
            </a:r>
            <a:r>
              <a:rPr sz="28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values </a:t>
            </a:r>
            <a:r>
              <a:rPr sz="2800" spc="-1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are </a:t>
            </a:r>
            <a:r>
              <a:rPr sz="28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smaller </a:t>
            </a:r>
            <a:r>
              <a:rPr sz="28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than the median and  </a:t>
            </a:r>
            <a:r>
              <a:rPr sz="28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half </a:t>
            </a:r>
            <a:r>
              <a:rPr sz="2800" spc="-2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are</a:t>
            </a:r>
            <a:r>
              <a:rPr sz="28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 </a:t>
            </a:r>
            <a:r>
              <a:rPr sz="2800" spc="-1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larger</a:t>
            </a:r>
            <a:endParaRPr sz="2800" dirty="0">
              <a:latin typeface="Helvetica Neue Light" panose="02000403000000020004" pitchFamily="2" charset="0"/>
              <a:ea typeface="Helvetica Neue Light" panose="02000403000000020004" pitchFamily="2" charset="0"/>
              <a:cs typeface="Calibri"/>
            </a:endParaRPr>
          </a:p>
          <a:p>
            <a:pPr marL="469900" marR="309880" indent="-457200">
              <a:spcBef>
                <a:spcPts val="1680"/>
              </a:spcBef>
              <a:buFont typeface="Arial" panose="020B0604020202020204" pitchFamily="34" charset="0"/>
              <a:buChar char="•"/>
            </a:pPr>
            <a:r>
              <a:rPr sz="28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The </a:t>
            </a:r>
            <a:r>
              <a:rPr sz="28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median </a:t>
            </a:r>
            <a:r>
              <a:rPr sz="28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divides </a:t>
            </a:r>
            <a:r>
              <a:rPr sz="28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the </a:t>
            </a:r>
            <a:r>
              <a:rPr sz="28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distribution </a:t>
            </a:r>
            <a:r>
              <a:rPr sz="28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in </a:t>
            </a:r>
            <a:r>
              <a:rPr sz="28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two </a:t>
            </a:r>
            <a:r>
              <a:rPr sz="28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equal  </a:t>
            </a:r>
            <a:r>
              <a:rPr sz="28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parts</a:t>
            </a:r>
            <a:endParaRPr sz="2800" dirty="0">
              <a:latin typeface="Helvetica Neue Light" panose="02000403000000020004" pitchFamily="2" charset="0"/>
              <a:ea typeface="Helvetica Neue Light" panose="02000403000000020004" pitchFamily="2" charset="0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79611" y="5737845"/>
            <a:ext cx="471268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the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value </a:t>
            </a: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of </a:t>
            </a:r>
            <a:r>
              <a:rPr sz="24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ordered</a:t>
            </a: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observations</a:t>
            </a:r>
            <a:endParaRPr sz="2400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/>
              <p:cNvSpPr txBox="1"/>
              <p:nvPr/>
            </p:nvSpPr>
            <p:spPr>
              <a:xfrm>
                <a:off x="2098047" y="5370501"/>
                <a:ext cx="3443437" cy="953081"/>
              </a:xfrm>
              <a:prstGeom prst="rect">
                <a:avLst/>
              </a:prstGeom>
            </p:spPr>
            <p:txBody>
              <a:bodyPr vert="horz" wrap="square" lIns="0" tIns="194945" rIns="0" bIns="0" rtlCol="0">
                <a:spAutoFit/>
              </a:bodyPr>
              <a:lstStyle/>
              <a:p>
                <a:pPr marL="25400">
                  <a:spcBef>
                    <a:spcPts val="153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  <a:ea typeface="Helvetica Neue Thin" panose="020B0403020202020204" pitchFamily="34" charset="0"/>
                          <a:cs typeface="Calibri"/>
                        </a:rPr>
                        <m:t>Median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  <a:ea typeface="Helvetica Neue Thin" panose="020B0403020202020204" pitchFamily="34" charset="0"/>
                          <a:cs typeface="Calibri"/>
                        </a:rPr>
                        <m:t>= </m:t>
                      </m:r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Helvetica Neue Thin" panose="020B0403020202020204" pitchFamily="34" charset="0"/>
                              <a:cs typeface="Calibri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  <a:ea typeface="Helvetica Neue Thin" panose="020B0403020202020204" pitchFamily="34" charset="0"/>
                                  <a:cs typeface="Calibri"/>
                                </a:rPr>
                              </m:ctrlPr>
                            </m:sSupPr>
                            <m:e>
                              <m:r>
                                <a:rPr lang="en-GB" sz="2400" b="0" i="0" smtClean="0">
                                  <a:latin typeface="Cambria Math" panose="02040503050406030204" pitchFamily="18" charset="0"/>
                                  <a:ea typeface="Helvetica Neue Thin" panose="020B0403020202020204" pitchFamily="34" charset="0"/>
                                  <a:cs typeface="Calibri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  <a:ea typeface="Helvetica Neue Thin" panose="020B0403020202020204" pitchFamily="34" charset="0"/>
                                  <a:cs typeface="Calibri"/>
                                </a:rPr>
                                <m:t>n</m:t>
                              </m:r>
                              <m:r>
                                <a:rPr lang="en-GB" sz="2400" b="0" i="0" smtClean="0">
                                  <a:latin typeface="Cambria Math" panose="02040503050406030204" pitchFamily="18" charset="0"/>
                                  <a:ea typeface="Helvetica Neue Thin" panose="020B0403020202020204" pitchFamily="34" charset="0"/>
                                  <a:cs typeface="Calibri"/>
                                </a:rPr>
                                <m:t>+1)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  <a:ea typeface="Helvetica Neue Thin" panose="020B0403020202020204" pitchFamily="34" charset="0"/>
                                  <a:cs typeface="Calibri"/>
                                </a:rPr>
                                <m:t>th</m:t>
                              </m:r>
                            </m:sup>
                          </m:sSup>
                        </m:num>
                        <m:den>
                          <m:r>
                            <a:rPr lang="en-GB" sz="2400" b="0" i="0" smtClean="0">
                              <a:latin typeface="Cambria Math" panose="02040503050406030204" pitchFamily="18" charset="0"/>
                              <a:ea typeface="Helvetica Neue Thin" panose="020B0403020202020204" pitchFamily="34" charset="0"/>
                              <a:cs typeface="Calibri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sz="2400" dirty="0">
                  <a:latin typeface="Helvetica Neue Light" panose="02000403000000020004" pitchFamily="2" charset="0"/>
                  <a:ea typeface="Helvetica Neue Light" panose="02000403000000020004" pitchFamily="2" charset="0"/>
                  <a:cs typeface="Calibri"/>
                </a:endParaRPr>
              </a:p>
            </p:txBody>
          </p:sp>
        </mc:Choice>
        <mc:Fallback xmlns=""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047" y="5370501"/>
                <a:ext cx="3443437" cy="953081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1FD48FA4-D671-0B4D-9B69-7D588772A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55"/>
            <a:ext cx="12192000" cy="970069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4661AA5-4B2A-6DF7-27B2-2F5BF26AD0B9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19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69C17B-0233-B2A4-3ADE-B00A2E78D0C7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949" y="1063768"/>
            <a:ext cx="11130449" cy="512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GB" sz="3600" b="1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Example of Summarising Numerical Data using Median</a:t>
            </a:r>
            <a:endParaRPr sz="3600" b="1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025C7-D401-6C44-99B0-039051333A8A}"/>
              </a:ext>
            </a:extLst>
          </p:cNvPr>
          <p:cNvSpPr txBox="1"/>
          <p:nvPr/>
        </p:nvSpPr>
        <p:spPr>
          <a:xfrm>
            <a:off x="609600" y="2078597"/>
            <a:ext cx="11125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Finding the median from these 9 data points: 13, 18, 13, 14, 13, 16, 14, 21, 13</a:t>
            </a:r>
          </a:p>
          <a:p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US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n = 9</a:t>
            </a:r>
          </a:p>
          <a:p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US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Arrange the values in ascending order:</a:t>
            </a:r>
          </a:p>
          <a:p>
            <a:r>
              <a:rPr lang="en-US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Before: 13, 18, 13, 14, 13, 16, 14, 21, 13</a:t>
            </a:r>
          </a:p>
          <a:p>
            <a:r>
              <a:rPr lang="en-US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After:    13, 13, 13, 13, 14, 14, 16, 18, 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F36A55-3260-3443-9632-0A61F39B4136}"/>
                  </a:ext>
                </a:extLst>
              </p:cNvPr>
              <p:cNvSpPr txBox="1"/>
              <p:nvPr/>
            </p:nvSpPr>
            <p:spPr>
              <a:xfrm>
                <a:off x="685800" y="4064389"/>
                <a:ext cx="11049000" cy="2457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b="1" dirty="0">
                  <a:latin typeface="+mj-lt"/>
                </a:endParaRPr>
              </a:p>
              <a:p>
                <a:r>
                  <a:rPr lang="en-US" sz="2000" b="1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Solution:</a:t>
                </a:r>
              </a:p>
              <a:p>
                <a:endParaRPr lang="en-US" sz="2000" dirty="0">
                  <a:latin typeface="Helvetica Neue Thin" panose="020B0403020202020204" pitchFamily="34" charset="0"/>
                  <a:ea typeface="Helvetica Neue Thin" panose="020B0403020202020204" pitchFamily="34" charset="0"/>
                </a:endParaRPr>
              </a:p>
              <a:p>
                <a:pPr algn="ctr"/>
                <a:r>
                  <a:rPr lang="en-GB" sz="2000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smtClean="0">
                        <a:latin typeface="Cambria Math" panose="02040503050406030204" pitchFamily="18" charset="0"/>
                      </a:rPr>
                      <m:t>Median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GB" sz="2000" b="0" i="0" smtClean="0">
                            <a:latin typeface="Cambria Math" panose="02040503050406030204" pitchFamily="18" charset="0"/>
                          </a:rPr>
                          <m:t>th</m:t>
                        </m:r>
                      </m:num>
                      <m:den>
                        <m:r>
                          <a:rPr lang="en-GB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9+1</m:t>
                            </m:r>
                          </m:e>
                        </m:d>
                      </m:num>
                      <m:den>
                        <m:r>
                          <a:rPr lang="en-GB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000" baseline="30000" dirty="0" err="1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th</a:t>
                </a:r>
                <a:r>
                  <a:rPr lang="en-US" sz="2000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 position in that arranged dataset </a:t>
                </a:r>
              </a:p>
              <a:p>
                <a:r>
                  <a:rPr lang="en-US" sz="2000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		</a:t>
                </a:r>
              </a:p>
              <a:p>
                <a:r>
                  <a:rPr lang="en-US" sz="2000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13, 13, 13, 13, 14, 14, 16, 18, 21</a:t>
                </a:r>
              </a:p>
              <a:p>
                <a:r>
                  <a:rPr lang="en-US" sz="2000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So, the median is 14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F36A55-3260-3443-9632-0A61F39B4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064389"/>
                <a:ext cx="11049000" cy="2457596"/>
              </a:xfrm>
              <a:prstGeom prst="rect">
                <a:avLst/>
              </a:prstGeom>
              <a:blipFill>
                <a:blip r:embed="rId3"/>
                <a:stretch>
                  <a:fillRect l="-689" b="-30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AE92F3F-8CBC-B341-8C7F-923F63F52EC5}"/>
              </a:ext>
            </a:extLst>
          </p:cNvPr>
          <p:cNvSpPr/>
          <p:nvPr/>
        </p:nvSpPr>
        <p:spPr>
          <a:xfrm>
            <a:off x="2437481" y="5794232"/>
            <a:ext cx="381000" cy="38100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507999-A4E4-6A4A-B01A-B63FCE064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55"/>
            <a:ext cx="12192000" cy="97006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62B28B-91E9-CA4C-833F-3B2D9D917B35}"/>
              </a:ext>
            </a:extLst>
          </p:cNvPr>
          <p:cNvSpPr/>
          <p:nvPr/>
        </p:nvSpPr>
        <p:spPr>
          <a:xfrm>
            <a:off x="7625508" y="3283405"/>
            <a:ext cx="4109292" cy="970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b="1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In RStudio, the code for this would be:</a:t>
            </a:r>
          </a:p>
          <a:p>
            <a:endParaRPr lang="en-GB" sz="1400" b="1" dirty="0">
              <a:solidFill>
                <a:schemeClr val="tx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GB" sz="1400" b="1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datapoints &lt;- c(13, 18, 13, 14, 13, 16, 14, 21,13)</a:t>
            </a:r>
          </a:p>
          <a:p>
            <a:r>
              <a:rPr lang="en-GB" sz="1400" b="1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median(datapoints)</a:t>
            </a:r>
          </a:p>
          <a:p>
            <a:r>
              <a:rPr lang="en-GB" sz="1400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341F0D9-08C4-D9A5-685B-8B2C42ABDA74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20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4E436E-3102-CBEF-B14E-152FF166EEE3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47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207142"/>
            <a:ext cx="11963400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GB" sz="3200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Things to know about the </a:t>
            </a:r>
            <a:r>
              <a:rPr sz="3200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Mean</a:t>
            </a:r>
            <a:r>
              <a:rPr lang="en-GB" sz="3200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 &amp; Median [1]</a:t>
            </a:r>
            <a:endParaRPr sz="3200" b="1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0496" y="1957238"/>
            <a:ext cx="10669016" cy="10105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0" indent="-742950">
              <a:spcBef>
                <a:spcPts val="100"/>
              </a:spcBef>
              <a:buAutoNum type="arabicPeriod"/>
            </a:pPr>
            <a:r>
              <a:rPr lang="en-GB" sz="32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The Mean </a:t>
            </a:r>
            <a:r>
              <a:rPr sz="32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is </a:t>
            </a:r>
            <a:r>
              <a:rPr sz="3200" spc="-2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influenced </a:t>
            </a:r>
            <a:r>
              <a:rPr sz="3200" spc="-15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by </a:t>
            </a:r>
            <a:r>
              <a:rPr sz="320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extreme</a:t>
            </a:r>
            <a:r>
              <a:rPr sz="3200" spc="-40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 </a:t>
            </a:r>
            <a:r>
              <a:rPr sz="3200" spc="-15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values</a:t>
            </a:r>
            <a:endParaRPr lang="en-GB" sz="3200" spc="-15" dirty="0">
              <a:latin typeface="Helvetica Neue Light" panose="02000403000000020004" pitchFamily="2" charset="0"/>
              <a:ea typeface="Helvetica Neue Light" panose="02000403000000020004" pitchFamily="2" charset="0"/>
              <a:cs typeface="Verdana"/>
            </a:endParaRPr>
          </a:p>
          <a:p>
            <a:pPr marL="755650" indent="-742950">
              <a:spcBef>
                <a:spcPts val="100"/>
              </a:spcBef>
              <a:buAutoNum type="arabicPeriod"/>
            </a:pPr>
            <a:r>
              <a:rPr lang="en-GB" sz="3200" spc="-15" dirty="0">
                <a:latin typeface="Helvetica Neue Light" panose="02000403000000020004" pitchFamily="2" charset="0"/>
                <a:ea typeface="Helvetica Neue Light" panose="02000403000000020004" pitchFamily="2" charset="0"/>
                <a:cs typeface="Verdana"/>
              </a:rPr>
              <a:t>The Median is not influenced by extreme values</a:t>
            </a:r>
            <a:endParaRPr sz="3200" dirty="0">
              <a:latin typeface="Helvetica Neue Light" panose="02000403000000020004" pitchFamily="2" charset="0"/>
              <a:ea typeface="Helvetica Neue Light" panose="02000403000000020004" pitchFamily="2" charset="0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46526" y="3429000"/>
            <a:ext cx="3124200" cy="3331040"/>
          </a:xfrm>
          <a:custGeom>
            <a:avLst/>
            <a:gdLst/>
            <a:ahLst/>
            <a:cxnLst/>
            <a:rect l="l" t="t" r="r" b="b"/>
            <a:pathLst>
              <a:path w="3124200" h="4191000">
                <a:moveTo>
                  <a:pt x="0" y="4191000"/>
                </a:moveTo>
                <a:lnTo>
                  <a:pt x="3124200" y="4191000"/>
                </a:lnTo>
                <a:lnTo>
                  <a:pt x="3124200" y="0"/>
                </a:lnTo>
                <a:lnTo>
                  <a:pt x="0" y="0"/>
                </a:lnTo>
                <a:lnTo>
                  <a:pt x="0" y="419100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24196" y="3429000"/>
            <a:ext cx="3124200" cy="3331040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244475">
              <a:spcBef>
                <a:spcPts val="95"/>
              </a:spcBef>
            </a:pPr>
            <a:r>
              <a:rPr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Distribution</a:t>
            </a:r>
            <a:r>
              <a:rPr sz="2000" b="1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 </a:t>
            </a:r>
            <a:r>
              <a:rPr sz="2000" b="1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A</a:t>
            </a:r>
          </a:p>
          <a:p>
            <a:pPr marL="433705">
              <a:spcBef>
                <a:spcPts val="244"/>
              </a:spcBef>
            </a:pP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2 3 4 5</a:t>
            </a:r>
            <a:r>
              <a:rPr sz="2000" spc="-4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 </a:t>
            </a:r>
            <a:r>
              <a:rPr sz="2000" b="1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20</a:t>
            </a:r>
          </a:p>
          <a:p>
            <a:pPr marL="433705" indent="-344170">
              <a:spcBef>
                <a:spcPts val="840"/>
              </a:spcBef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Mean</a:t>
            </a:r>
            <a:endParaRPr sz="2000" dirty="0">
              <a:latin typeface="Helvetica Neue Thin" panose="020B0403020202020204" pitchFamily="34" charset="0"/>
              <a:ea typeface="Helvetica Neue Thin" panose="020B0403020202020204" pitchFamily="34" charset="0"/>
              <a:cs typeface="Verdana"/>
            </a:endParaRPr>
          </a:p>
          <a:p>
            <a:pPr marL="433705">
              <a:spcBef>
                <a:spcPts val="1400"/>
              </a:spcBef>
            </a:pP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2+ 3+ 4+ 5+ 20 /</a:t>
            </a:r>
            <a:r>
              <a:rPr spc="-2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 </a:t>
            </a: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5</a:t>
            </a:r>
          </a:p>
          <a:p>
            <a:pPr marL="433705">
              <a:spcBef>
                <a:spcPts val="1165"/>
              </a:spcBef>
            </a:pP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34 / 5 = 6</a:t>
            </a:r>
            <a:r>
              <a:rPr lang="en-GB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.</a:t>
            </a: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8</a:t>
            </a:r>
          </a:p>
          <a:p>
            <a:pPr marL="433705" indent="-344170">
              <a:spcBef>
                <a:spcPts val="1160"/>
              </a:spcBef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Median</a:t>
            </a:r>
          </a:p>
          <a:p>
            <a:pPr marL="433705">
              <a:spcBef>
                <a:spcPts val="1400"/>
              </a:spcBef>
            </a:pP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5 + 1 / 2 = 3</a:t>
            </a:r>
            <a:r>
              <a:rPr baseline="25462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rd</a:t>
            </a:r>
            <a:r>
              <a:rPr spc="284" baseline="25462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 </a:t>
            </a:r>
            <a:r>
              <a:rPr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obs.</a:t>
            </a:r>
            <a:endParaRPr dirty="0">
              <a:latin typeface="Helvetica Neue Thin" panose="020B0403020202020204" pitchFamily="34" charset="0"/>
              <a:ea typeface="Helvetica Neue Thin" panose="020B0403020202020204" pitchFamily="34" charset="0"/>
              <a:cs typeface="Verdana"/>
            </a:endParaRPr>
          </a:p>
          <a:p>
            <a:pPr marL="433705">
              <a:spcBef>
                <a:spcPts val="1240"/>
              </a:spcBef>
            </a:pP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=</a:t>
            </a: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24933" y="3429000"/>
            <a:ext cx="3124200" cy="3331040"/>
          </a:xfrm>
          <a:prstGeom prst="rect">
            <a:avLst/>
          </a:prstGeom>
          <a:solidFill>
            <a:srgbClr val="C5D9F0"/>
          </a:solidFill>
          <a:ln w="19811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245110">
              <a:spcBef>
                <a:spcPts val="95"/>
              </a:spcBef>
            </a:pPr>
            <a:r>
              <a:rPr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Distribution</a:t>
            </a:r>
            <a:r>
              <a:rPr sz="2000" b="1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sz="2000" b="1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B</a:t>
            </a:r>
          </a:p>
          <a:p>
            <a:pPr marL="434340">
              <a:spcBef>
                <a:spcPts val="244"/>
              </a:spcBef>
            </a:pP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2 3 4 5</a:t>
            </a:r>
            <a:r>
              <a:rPr sz="2000" spc="-11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sz="2000" b="1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6</a:t>
            </a:r>
          </a:p>
          <a:p>
            <a:pPr marL="434340" indent="-343535">
              <a:spcBef>
                <a:spcPts val="84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Mean</a:t>
            </a:r>
            <a:endParaRPr sz="2000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 marL="434340">
              <a:spcBef>
                <a:spcPts val="1400"/>
              </a:spcBef>
            </a:pP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2+ 3+ 4+ 5+ 6 /</a:t>
            </a:r>
            <a:r>
              <a:rPr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5</a:t>
            </a:r>
          </a:p>
          <a:p>
            <a:pPr marL="434340">
              <a:spcBef>
                <a:spcPts val="1165"/>
              </a:spcBef>
            </a:pP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20 / 5 =</a:t>
            </a:r>
            <a:r>
              <a:rPr spc="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4</a:t>
            </a:r>
          </a:p>
          <a:p>
            <a:pPr marL="434340" indent="-343535">
              <a:spcBef>
                <a:spcPts val="116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Median</a:t>
            </a:r>
          </a:p>
          <a:p>
            <a:pPr marL="434340">
              <a:spcBef>
                <a:spcPts val="1400"/>
              </a:spcBef>
            </a:pP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5 + 1 / 2 = 3</a:t>
            </a:r>
            <a:r>
              <a:rPr baseline="25462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rd</a:t>
            </a:r>
            <a:r>
              <a:rPr spc="292" baseline="25462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obs.</a:t>
            </a:r>
            <a:endParaRPr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 marL="434340">
              <a:spcBef>
                <a:spcPts val="1240"/>
              </a:spcBef>
            </a:pP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=</a:t>
            </a: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E73768-CFF7-EE42-A81E-755C1C532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55"/>
            <a:ext cx="12192000" cy="970069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C06DC04-7496-6DED-7B61-D91350BCE288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21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76B7F3-04D6-AC86-AF62-1F92566B2428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8717" y="2114585"/>
            <a:ext cx="10069669" cy="78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1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Median</a:t>
            </a:r>
            <a:r>
              <a:rPr lang="en-GB" sz="2800" spc="-1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 values are different when sample size contains an odd or even number of data points</a:t>
            </a:r>
            <a:endParaRPr sz="2800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8717" y="3354428"/>
            <a:ext cx="9374565" cy="351378"/>
          </a:xfrm>
          <a:prstGeom prst="rect">
            <a:avLst/>
          </a:prstGeom>
          <a:solidFill>
            <a:srgbClr val="C5D9F0"/>
          </a:solidFill>
          <a:ln w="19811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>
              <a:spcBef>
                <a:spcPts val="340"/>
              </a:spcBef>
            </a:pPr>
            <a:r>
              <a:rPr sz="20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Rank </a:t>
            </a: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data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from the </a:t>
            </a: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lowest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to the highest </a:t>
            </a:r>
            <a:r>
              <a:rPr sz="20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value </a:t>
            </a: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median is</a:t>
            </a:r>
            <a:r>
              <a:rPr sz="2000" spc="-12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 </a:t>
            </a:r>
            <a:r>
              <a:rPr sz="20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rank</a:t>
            </a:r>
            <a:r>
              <a:rPr lang="en-GB" sz="20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 calculated from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(n+1)/2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79371" y="3831134"/>
            <a:ext cx="3327400" cy="2680221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76200">
              <a:spcBef>
                <a:spcPts val="1180"/>
              </a:spcBef>
            </a:pPr>
            <a:r>
              <a:rPr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Odd </a:t>
            </a: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(n =</a:t>
            </a:r>
            <a:r>
              <a:rPr spc="-3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 </a:t>
            </a: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5)</a:t>
            </a:r>
          </a:p>
          <a:p>
            <a:pPr marL="76200">
              <a:spcBef>
                <a:spcPts val="1080"/>
              </a:spcBef>
            </a:pP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14</a:t>
            </a:r>
            <a:r>
              <a:rPr lang="en-GB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, </a:t>
            </a: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17</a:t>
            </a:r>
            <a:r>
              <a:rPr lang="en-GB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, </a:t>
            </a: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18</a:t>
            </a:r>
            <a:r>
              <a:rPr lang="en-GB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, </a:t>
            </a: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20</a:t>
            </a:r>
            <a:r>
              <a:rPr lang="en-GB" spc="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, </a:t>
            </a: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21</a:t>
            </a:r>
            <a:endParaRPr lang="en-GB" sz="2900" dirty="0">
              <a:latin typeface="Helvetica Neue Thin" panose="020B0403020202020204" pitchFamily="34" charset="0"/>
              <a:ea typeface="Helvetica Neue Thin" panose="020B0403020202020204" pitchFamily="34" charset="0"/>
              <a:cs typeface="Verdana"/>
            </a:endParaRPr>
          </a:p>
          <a:p>
            <a:pPr marL="76200">
              <a:spcBef>
                <a:spcPts val="1080"/>
              </a:spcBef>
            </a:pP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Median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= (n +1)/</a:t>
            </a:r>
            <a:r>
              <a:rPr sz="2000" spc="-9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2</a:t>
            </a:r>
          </a:p>
          <a:p>
            <a:pPr marL="76200">
              <a:spcBef>
                <a:spcPts val="1200"/>
              </a:spcBef>
            </a:pP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Median = (5 + 1)/ 2 = </a:t>
            </a:r>
            <a:r>
              <a:rPr sz="2000" spc="1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3</a:t>
            </a:r>
            <a:r>
              <a:rPr sz="1950" spc="15" baseline="25641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rd</a:t>
            </a:r>
            <a:r>
              <a:rPr sz="1950" spc="30" baseline="25641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 </a:t>
            </a:r>
            <a:r>
              <a:rPr sz="2000" dirty="0" err="1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obs</a:t>
            </a:r>
            <a:endParaRPr lang="en-GB" sz="2000" dirty="0">
              <a:latin typeface="Helvetica Neue Thin" panose="020B0403020202020204" pitchFamily="34" charset="0"/>
              <a:ea typeface="Helvetica Neue Thin" panose="020B0403020202020204" pitchFamily="34" charset="0"/>
              <a:cs typeface="Arial"/>
            </a:endParaRPr>
          </a:p>
          <a:p>
            <a:pPr marL="76200">
              <a:spcBef>
                <a:spcPts val="1200"/>
              </a:spcBef>
            </a:pPr>
            <a:r>
              <a:rPr lang="en-GB"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14, 17, 18, 20</a:t>
            </a:r>
            <a:r>
              <a:rPr lang="en-GB" sz="2000" spc="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, </a:t>
            </a:r>
            <a:r>
              <a:rPr lang="en-GB"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21</a:t>
            </a:r>
            <a:endParaRPr lang="en-GB" sz="3600" dirty="0">
              <a:latin typeface="Helvetica Neue Thin" panose="020B0403020202020204" pitchFamily="34" charset="0"/>
              <a:ea typeface="Helvetica Neue Thin" panose="020B0403020202020204" pitchFamily="34" charset="0"/>
              <a:cs typeface="Verdana"/>
            </a:endParaRPr>
          </a:p>
          <a:p>
            <a:pPr marL="76200">
              <a:spcBef>
                <a:spcPts val="1200"/>
              </a:spcBef>
            </a:pP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Median = </a:t>
            </a:r>
            <a:r>
              <a:rPr sz="2000" spc="1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3</a:t>
            </a:r>
            <a:r>
              <a:rPr sz="1950" spc="15" baseline="25641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rd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obs =</a:t>
            </a:r>
            <a:r>
              <a:rPr sz="2000" spc="-285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18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85231" y="3837243"/>
            <a:ext cx="3966210" cy="2680221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88900">
              <a:spcBef>
                <a:spcPts val="1180"/>
              </a:spcBef>
            </a:pPr>
            <a:r>
              <a:rPr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Even </a:t>
            </a: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(n =</a:t>
            </a:r>
            <a:r>
              <a:rPr spc="-8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 </a:t>
            </a:r>
            <a:r>
              <a:rPr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4)</a:t>
            </a:r>
            <a:endParaRPr lang="en-GB" dirty="0">
              <a:latin typeface="Helvetica Neue Thin" panose="020B0403020202020204" pitchFamily="34" charset="0"/>
              <a:ea typeface="Helvetica Neue Thin" panose="020B0403020202020204" pitchFamily="34" charset="0"/>
              <a:cs typeface="Verdana"/>
            </a:endParaRPr>
          </a:p>
          <a:p>
            <a:pPr marL="88900">
              <a:spcBef>
                <a:spcPts val="1180"/>
              </a:spcBef>
            </a:pPr>
            <a:r>
              <a:rPr lang="en-GB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14, 17, 18, 20 </a:t>
            </a:r>
          </a:p>
          <a:p>
            <a:pPr marL="88900">
              <a:spcBef>
                <a:spcPts val="1180"/>
              </a:spcBef>
            </a:pPr>
            <a:r>
              <a:rPr lang="en-GB"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Median </a:t>
            </a:r>
            <a:r>
              <a:rPr lang="en-GB"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= (n +1)/</a:t>
            </a:r>
            <a:r>
              <a:rPr lang="en-GB" sz="2000" spc="-9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 </a:t>
            </a:r>
            <a:r>
              <a:rPr lang="en-GB"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2</a:t>
            </a:r>
          </a:p>
          <a:p>
            <a:pPr marL="88900">
              <a:spcBef>
                <a:spcPts val="1180"/>
              </a:spcBef>
            </a:pPr>
            <a:r>
              <a:rPr lang="en-GB"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Median = (4+1/2 = 2.5</a:t>
            </a:r>
            <a:r>
              <a:rPr lang="en-GB" sz="2000" baseline="300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th </a:t>
            </a:r>
            <a:r>
              <a:rPr lang="en-GB" sz="2000" dirty="0" err="1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obs</a:t>
            </a:r>
            <a:endParaRPr lang="en-GB" sz="2000" dirty="0">
              <a:latin typeface="Helvetica Neue Thin" panose="020B0403020202020204" pitchFamily="34" charset="0"/>
              <a:ea typeface="Helvetica Neue Thin" panose="020B0403020202020204" pitchFamily="34" charset="0"/>
              <a:cs typeface="Verdana"/>
            </a:endParaRPr>
          </a:p>
          <a:p>
            <a:pPr marL="73025">
              <a:spcBef>
                <a:spcPts val="1140"/>
              </a:spcBef>
            </a:pPr>
            <a:r>
              <a:rPr lang="en-GB"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14, 17 || 18, 20 </a:t>
            </a:r>
          </a:p>
          <a:p>
            <a:pPr marL="73025">
              <a:spcBef>
                <a:spcPts val="1140"/>
              </a:spcBef>
            </a:pPr>
            <a:r>
              <a:rPr lang="en-GB" sz="20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Median = 2.5</a:t>
            </a:r>
            <a:r>
              <a:rPr lang="en-GB" sz="2000" spc="-15" baseline="30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</a:t>
            </a:r>
            <a:r>
              <a:rPr lang="en-GB" sz="20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lang="en-GB" sz="2000" spc="-15" dirty="0" err="1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obs</a:t>
            </a:r>
            <a:r>
              <a:rPr lang="en-GB" sz="20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= 17.5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E21663-CA9A-4247-A9B8-12EF2D96D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9C4A49B8-DBFF-CF47-AFF5-E7110E737CDA}"/>
              </a:ext>
            </a:extLst>
          </p:cNvPr>
          <p:cNvSpPr txBox="1">
            <a:spLocks/>
          </p:cNvSpPr>
          <p:nvPr/>
        </p:nvSpPr>
        <p:spPr>
          <a:xfrm>
            <a:off x="0" y="1207142"/>
            <a:ext cx="11963400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GB" sz="3200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Things to know about the Mean &amp; Median [2]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6F3012-9DFC-724E-863E-F9BB8CDE08C3}"/>
              </a:ext>
            </a:extLst>
          </p:cNvPr>
          <p:cNvSpPr/>
          <p:nvPr/>
        </p:nvSpPr>
        <p:spPr>
          <a:xfrm>
            <a:off x="2575775" y="5650858"/>
            <a:ext cx="399245" cy="4150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644285-E5DC-92AE-BA2D-8D12B162C81D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22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DAEA5-7610-00CF-12E2-3559EE6E69EC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7F993F-C23D-E34F-8F69-5DCB34561514}"/>
              </a:ext>
            </a:extLst>
          </p:cNvPr>
          <p:cNvSpPr txBox="1">
            <a:spLocks/>
          </p:cNvSpPr>
          <p:nvPr/>
        </p:nvSpPr>
        <p:spPr>
          <a:xfrm>
            <a:off x="2401677" y="1102283"/>
            <a:ext cx="7553692" cy="510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GB" sz="3600" b="1" spc="-25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Measure for Dispersion &amp; Variation [1]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B98C7ACE-8A38-4048-86A6-7A5E34F77358}"/>
              </a:ext>
            </a:extLst>
          </p:cNvPr>
          <p:cNvSpPr txBox="1"/>
          <p:nvPr/>
        </p:nvSpPr>
        <p:spPr>
          <a:xfrm>
            <a:off x="1064861" y="2413742"/>
            <a:ext cx="9702860" cy="3997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20650" indent="-343535">
              <a:lnSpc>
                <a:spcPct val="110100"/>
              </a:lnSpc>
              <a:spcBef>
                <a:spcPts val="198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GB"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NOTE: Measures of central tendency give us measures of where the middle of a set of data occurs - it is not enough to report only measures of central tendencies </a:t>
            </a:r>
          </a:p>
          <a:p>
            <a:pPr marL="355600" marR="120650" indent="-343535">
              <a:lnSpc>
                <a:spcPct val="110100"/>
              </a:lnSpc>
              <a:spcBef>
                <a:spcPts val="198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GB"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This is where measure for variation and dispersion steps in…</a:t>
            </a:r>
          </a:p>
          <a:p>
            <a:pPr marL="355600" marR="120650" indent="-343535">
              <a:lnSpc>
                <a:spcPct val="110100"/>
              </a:lnSpc>
              <a:spcBef>
                <a:spcPts val="198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GB"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These measure describe how the data is clustered or dispersed around the mean.</a:t>
            </a:r>
          </a:p>
          <a:p>
            <a:pPr marL="355600" marR="120650" indent="-343535">
              <a:lnSpc>
                <a:spcPct val="110100"/>
              </a:lnSpc>
              <a:spcBef>
                <a:spcPts val="198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GB"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Measures of variation determine the range of  the distribution relative to the measures of  central tendency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7F1FA-AFDE-FA49-9893-E0561C93A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C99161D-0BCB-88A8-CAB3-1485773D2D54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23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6025CF-5BF3-F340-EFFC-6B36D9927D3B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850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7F993F-C23D-E34F-8F69-5DCB34561514}"/>
              </a:ext>
            </a:extLst>
          </p:cNvPr>
          <p:cNvSpPr txBox="1">
            <a:spLocks/>
          </p:cNvSpPr>
          <p:nvPr/>
        </p:nvSpPr>
        <p:spPr>
          <a:xfrm>
            <a:off x="2401677" y="1102283"/>
            <a:ext cx="7553692" cy="510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GB" sz="3600" b="1" spc="-25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Measure for Dispersion &amp; Variation [2]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B98C7ACE-8A38-4048-86A6-7A5E34F77358}"/>
              </a:ext>
            </a:extLst>
          </p:cNvPr>
          <p:cNvSpPr txBox="1"/>
          <p:nvPr/>
        </p:nvSpPr>
        <p:spPr>
          <a:xfrm>
            <a:off x="948951" y="2066013"/>
            <a:ext cx="9702860" cy="14532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20650" indent="-343535">
              <a:lnSpc>
                <a:spcPct val="110100"/>
              </a:lnSpc>
              <a:spcBef>
                <a:spcPts val="198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GB"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These estimates basically </a:t>
            </a:r>
            <a:r>
              <a:rPr lang="en-GB"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determine the spread and </a:t>
            </a:r>
            <a:r>
              <a:rPr lang="en-GB"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range of values</a:t>
            </a:r>
          </a:p>
          <a:p>
            <a:pPr marL="355600" marR="120650" indent="-343535">
              <a:lnSpc>
                <a:spcPct val="110100"/>
              </a:lnSpc>
              <a:spcBef>
                <a:spcPts val="198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GB"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It determines how the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distribution </a:t>
            </a:r>
            <a:r>
              <a:rPr lang="en-GB"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are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relative </a:t>
            </a: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to the </a:t>
            </a:r>
            <a:r>
              <a:rPr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measures of </a:t>
            </a: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central </a:t>
            </a:r>
            <a:r>
              <a:rPr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tendency</a:t>
            </a:r>
            <a:r>
              <a:rPr lang="en-GB"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:</a:t>
            </a:r>
            <a:endParaRPr sz="2400" dirty="0">
              <a:latin typeface="Helvetica Neue Thin" panose="020B0403020202020204" pitchFamily="34" charset="0"/>
              <a:ea typeface="Helvetica Neue Thin" panose="020B0403020202020204" pitchFamily="34" charset="0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93808A5-E175-D948-BE1B-D9C23C435E76}"/>
              </a:ext>
            </a:extLst>
          </p:cNvPr>
          <p:cNvSpPr txBox="1"/>
          <p:nvPr/>
        </p:nvSpPr>
        <p:spPr>
          <a:xfrm>
            <a:off x="1076352" y="3409720"/>
            <a:ext cx="10265849" cy="1728678"/>
          </a:xfrm>
          <a:prstGeom prst="rect">
            <a:avLst/>
          </a:prstGeom>
        </p:spPr>
        <p:txBody>
          <a:bodyPr vert="horz" wrap="square" lIns="0" tIns="327660" rIns="0" bIns="0" rtlCol="0">
            <a:spAutoFit/>
          </a:bodyPr>
          <a:lstStyle/>
          <a:p>
            <a:pPr marL="811530" lvl="1" indent="-342900">
              <a:spcBef>
                <a:spcPts val="1870"/>
              </a:spcBef>
              <a:buSzPct val="93333"/>
              <a:buFont typeface="Wingdings" pitchFamily="2" charset="2"/>
              <a:buChar char="Ø"/>
              <a:tabLst>
                <a:tab pos="836930" algn="l"/>
                <a:tab pos="837565" algn="l"/>
              </a:tabLst>
            </a:pPr>
            <a:r>
              <a:rPr sz="2000" b="1" u="sng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Range</a:t>
            </a:r>
            <a:r>
              <a:rPr lang="en-GB"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(</a:t>
            </a:r>
            <a:r>
              <a:rPr lang="en-GB" sz="2000" b="1" u="sng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Maximum</a:t>
            </a:r>
            <a:r>
              <a:rPr lang="en-GB"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&amp; </a:t>
            </a:r>
            <a:r>
              <a:rPr lang="en-GB" sz="2000" b="1" u="sng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Minimum</a:t>
            </a:r>
            <a:r>
              <a:rPr lang="en-GB"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value)</a:t>
            </a:r>
            <a:endParaRPr lang="en-GB" sz="2000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  <a:p>
            <a:pPr marL="811530" lvl="1" indent="-342900">
              <a:spcBef>
                <a:spcPts val="1870"/>
              </a:spcBef>
              <a:buSzPct val="93333"/>
              <a:buFont typeface="Wingdings" pitchFamily="2" charset="2"/>
              <a:buChar char="Ø"/>
              <a:tabLst>
                <a:tab pos="836930" algn="l"/>
                <a:tab pos="837565" algn="l"/>
              </a:tabLst>
            </a:pPr>
            <a:r>
              <a:rPr lang="en-GB" sz="2000" b="1" u="sng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Upper</a:t>
            </a:r>
            <a:r>
              <a:rPr lang="en-GB"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and </a:t>
            </a:r>
            <a:r>
              <a:rPr lang="en-GB" sz="2000" b="1" u="sng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lower </a:t>
            </a:r>
            <a:r>
              <a:rPr sz="2000" b="1" u="sng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quartile</a:t>
            </a:r>
            <a:r>
              <a:rPr lang="en-GB" sz="2000" b="1" u="sng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s</a:t>
            </a:r>
            <a:r>
              <a:rPr sz="2000" b="1" u="sng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lang="en-GB"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(i.e., 75</a:t>
            </a:r>
            <a:r>
              <a:rPr lang="en-GB" sz="2000" spc="-5" baseline="30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</a:t>
            </a:r>
            <a:r>
              <a:rPr lang="en-GB"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&amp; 25</a:t>
            </a:r>
            <a:r>
              <a:rPr lang="en-GB" sz="2000" spc="-5" baseline="30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</a:t>
            </a:r>
            <a:r>
              <a:rPr lang="en-GB"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0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Percentiles</a:t>
            </a:r>
            <a:r>
              <a:rPr lang="en-GB" sz="20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), and </a:t>
            </a:r>
            <a:r>
              <a:rPr lang="en-GB" sz="2000" b="1" u="sng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Interquartile range</a:t>
            </a:r>
            <a:endParaRPr sz="2000" b="1" u="sng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  <a:p>
            <a:pPr marL="811530" lvl="1" indent="-342900">
              <a:spcBef>
                <a:spcPts val="1800"/>
              </a:spcBef>
              <a:buFont typeface="Wingdings" pitchFamily="2" charset="2"/>
              <a:buChar char="Ø"/>
              <a:tabLst>
                <a:tab pos="842010" algn="l"/>
                <a:tab pos="842644" algn="l"/>
              </a:tabLst>
            </a:pPr>
            <a:r>
              <a:rPr sz="2000" b="1" u="sng" spc="-2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Variance</a:t>
            </a:r>
            <a:r>
              <a:rPr lang="en-GB"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to estimate the </a:t>
            </a:r>
            <a:r>
              <a:rPr sz="2000" b="1" u="sng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Standard</a:t>
            </a:r>
            <a:r>
              <a:rPr sz="2000" b="1" u="sng" spc="-2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000" b="1" u="sng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Deviation</a:t>
            </a:r>
            <a:endParaRPr sz="2000" b="1" u="sng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7F1FA-AFDE-FA49-9893-E0561C93A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92D453D-7917-9115-D4D3-FF36D6BAFF75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24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68098C-26CB-1D4E-1CA1-6562C139BEDB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74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7914" y="1284012"/>
            <a:ext cx="8283228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48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Ran</a:t>
            </a:r>
            <a:r>
              <a:rPr sz="4800" spc="-5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g</a:t>
            </a:r>
            <a:r>
              <a:rPr sz="48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e</a:t>
            </a:r>
            <a:r>
              <a:rPr lang="en-GB" sz="48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 (minimum &amp; maximum) </a:t>
            </a:r>
            <a:endParaRPr sz="4800" dirty="0">
              <a:latin typeface="Helvetica Neue Light" panose="02000403000000020004" pitchFamily="2" charset="0"/>
              <a:ea typeface="Helvetica Neue Light" panose="02000403000000020004" pitchFamily="2" charset="0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50301" y="2305323"/>
            <a:ext cx="9281148" cy="2594684"/>
          </a:xfrm>
          <a:custGeom>
            <a:avLst/>
            <a:gdLst/>
            <a:ahLst/>
            <a:cxnLst/>
            <a:rect l="l" t="t" r="r" b="b"/>
            <a:pathLst>
              <a:path w="8531860" h="2247900">
                <a:moveTo>
                  <a:pt x="0" y="2247900"/>
                </a:moveTo>
                <a:lnTo>
                  <a:pt x="8531352" y="2247900"/>
                </a:lnTo>
                <a:lnTo>
                  <a:pt x="8531352" y="0"/>
                </a:lnTo>
                <a:lnTo>
                  <a:pt x="0" y="0"/>
                </a:lnTo>
                <a:lnTo>
                  <a:pt x="0" y="224790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50301" y="2294907"/>
            <a:ext cx="9281148" cy="2605100"/>
          </a:xfrm>
          <a:custGeom>
            <a:avLst/>
            <a:gdLst/>
            <a:ahLst/>
            <a:cxnLst/>
            <a:rect l="l" t="t" r="r" b="b"/>
            <a:pathLst>
              <a:path w="8531860" h="2247900">
                <a:moveTo>
                  <a:pt x="0" y="2247900"/>
                </a:moveTo>
                <a:lnTo>
                  <a:pt x="8531352" y="2247900"/>
                </a:lnTo>
                <a:lnTo>
                  <a:pt x="8531352" y="0"/>
                </a:lnTo>
                <a:lnTo>
                  <a:pt x="0" y="0"/>
                </a:lnTo>
                <a:lnTo>
                  <a:pt x="0" y="2247900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63643" y="2356684"/>
            <a:ext cx="8327673" cy="2223043"/>
          </a:xfrm>
          <a:prstGeom prst="rect">
            <a:avLst/>
          </a:prstGeom>
        </p:spPr>
        <p:txBody>
          <a:bodyPr vert="horz" wrap="square" lIns="0" tIns="255904" rIns="0" bIns="0" rtlCol="0">
            <a:spAutoFit/>
          </a:bodyPr>
          <a:lstStyle/>
          <a:p>
            <a:pPr marL="12700">
              <a:spcBef>
                <a:spcPts val="2014"/>
              </a:spcBef>
            </a:pPr>
            <a:r>
              <a:rPr sz="32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Range</a:t>
            </a:r>
            <a:r>
              <a:rPr lang="en-GB" sz="32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 </a:t>
            </a:r>
            <a:r>
              <a:rPr sz="32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gives </a:t>
            </a:r>
            <a:r>
              <a:rPr lang="en-GB" sz="32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the </a:t>
            </a:r>
            <a:r>
              <a:rPr sz="3200" spc="-1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extreme</a:t>
            </a:r>
            <a:r>
              <a:rPr sz="3200" spc="-2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 </a:t>
            </a:r>
            <a:r>
              <a:rPr sz="32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values</a:t>
            </a:r>
            <a:endParaRPr sz="3200" dirty="0">
              <a:latin typeface="Helvetica Neue Light" panose="02000403000000020004" pitchFamily="2" charset="0"/>
              <a:ea typeface="Helvetica Neue Light" panose="02000403000000020004" pitchFamily="2" charset="0"/>
              <a:cs typeface="Calibri"/>
            </a:endParaRPr>
          </a:p>
          <a:p>
            <a:pPr marL="12700">
              <a:spcBef>
                <a:spcPts val="1920"/>
              </a:spcBef>
            </a:pPr>
            <a:r>
              <a:rPr sz="32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The </a:t>
            </a:r>
            <a:r>
              <a:rPr sz="3200" spc="-2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difference </a:t>
            </a:r>
            <a:r>
              <a:rPr sz="32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between </a:t>
            </a:r>
            <a:r>
              <a:rPr sz="32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the </a:t>
            </a:r>
            <a:r>
              <a:rPr sz="32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min </a:t>
            </a:r>
            <a:r>
              <a:rPr sz="32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and </a:t>
            </a:r>
            <a:r>
              <a:rPr sz="32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max</a:t>
            </a:r>
            <a:r>
              <a:rPr sz="3200" spc="7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 </a:t>
            </a:r>
            <a:r>
              <a:rPr sz="32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values</a:t>
            </a:r>
            <a:endParaRPr sz="3200" dirty="0">
              <a:latin typeface="Helvetica Neue Light" panose="02000403000000020004" pitchFamily="2" charset="0"/>
              <a:ea typeface="Helvetica Neue Light" panose="02000403000000020004" pitchFamily="2" charset="0"/>
              <a:cs typeface="Calibri"/>
            </a:endParaRPr>
          </a:p>
          <a:p>
            <a:pPr marL="407670" algn="ctr">
              <a:spcBef>
                <a:spcPts val="1920"/>
              </a:spcBef>
            </a:pPr>
            <a:r>
              <a:rPr sz="32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= </a:t>
            </a:r>
            <a:r>
              <a:rPr sz="32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highest value </a:t>
            </a:r>
            <a:r>
              <a:rPr sz="320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– </a:t>
            </a:r>
            <a:r>
              <a:rPr sz="3200" spc="-10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lowest</a:t>
            </a:r>
            <a:r>
              <a:rPr sz="3200" spc="-2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 </a:t>
            </a:r>
            <a:r>
              <a:rPr sz="32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"/>
              </a:rPr>
              <a:t>value</a:t>
            </a:r>
            <a:endParaRPr sz="3200" dirty="0">
              <a:latin typeface="Helvetica Neue Light" panose="02000403000000020004" pitchFamily="2" charset="0"/>
              <a:ea typeface="Helvetica Neue Light" panose="02000403000000020004" pitchFamily="2" charset="0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190BF9-D35E-634D-BD3A-6E77848C72B4}"/>
              </a:ext>
            </a:extLst>
          </p:cNvPr>
          <p:cNvSpPr/>
          <p:nvPr/>
        </p:nvSpPr>
        <p:spPr>
          <a:xfrm>
            <a:off x="4081777" y="5071335"/>
            <a:ext cx="49757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13, 13, 13, 13, 14, 14, 16, 18, 21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9EE3DA5-B41A-1B40-9439-8941A1A579F3}"/>
              </a:ext>
            </a:extLst>
          </p:cNvPr>
          <p:cNvSpPr txBox="1"/>
          <p:nvPr/>
        </p:nvSpPr>
        <p:spPr>
          <a:xfrm>
            <a:off x="2665750" y="5152307"/>
            <a:ext cx="1843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L</a:t>
            </a:r>
            <a:r>
              <a:rPr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owes</a:t>
            </a:r>
            <a:r>
              <a:rPr lang="en-GB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t</a:t>
            </a:r>
            <a:r>
              <a:rPr spc="-2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 </a:t>
            </a:r>
            <a:r>
              <a:rPr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value</a:t>
            </a:r>
            <a:endParaRPr dirty="0">
              <a:latin typeface="Helvetica Neue Thin" panose="020B0403020202020204" pitchFamily="34" charset="0"/>
              <a:ea typeface="Helvetica Neue Thin" panose="020B0403020202020204" pitchFamily="34" charset="0"/>
              <a:cs typeface="Arial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D51AEBBD-77DA-6D40-B874-98B5755EAC23}"/>
              </a:ext>
            </a:extLst>
          </p:cNvPr>
          <p:cNvSpPr txBox="1"/>
          <p:nvPr/>
        </p:nvSpPr>
        <p:spPr>
          <a:xfrm>
            <a:off x="8141647" y="5162204"/>
            <a:ext cx="213003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spcBef>
                <a:spcPts val="100"/>
              </a:spcBef>
            </a:pPr>
            <a:r>
              <a:rPr lang="en-GB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Highest</a:t>
            </a:r>
            <a:r>
              <a:rPr spc="-5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 </a:t>
            </a:r>
            <a:r>
              <a:rPr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/>
              </a:rPr>
              <a:t>value</a:t>
            </a:r>
            <a:endParaRPr dirty="0">
              <a:latin typeface="Helvetica Neue Thin" panose="020B0403020202020204" pitchFamily="34" charset="0"/>
              <a:ea typeface="Helvetica Neue Thin" panose="020B0403020202020204" pitchFamily="34" charset="0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11FB6-8417-E141-9A31-3774EF4BA46E}"/>
              </a:ext>
            </a:extLst>
          </p:cNvPr>
          <p:cNvSpPr txBox="1"/>
          <p:nvPr/>
        </p:nvSpPr>
        <p:spPr>
          <a:xfrm>
            <a:off x="3944434" y="5875657"/>
            <a:ext cx="4302877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Range = 21 – 13 = 8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512CD5-568A-4D4B-BE0B-7EC3FC0FB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62C9855-AFCB-6E45-9E1D-70524DB12B6A}"/>
              </a:ext>
            </a:extLst>
          </p:cNvPr>
          <p:cNvSpPr/>
          <p:nvPr/>
        </p:nvSpPr>
        <p:spPr>
          <a:xfrm>
            <a:off x="8699828" y="5479950"/>
            <a:ext cx="3410198" cy="137805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In RStudio, the code for this would be:</a:t>
            </a:r>
          </a:p>
          <a:p>
            <a:endParaRPr lang="en-GB" sz="1100" b="1" dirty="0">
              <a:solidFill>
                <a:schemeClr val="tx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GB" sz="1100" b="1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datapoints &lt;- c(13, 18, 13, 14, 13, 16, 14, 21,13)</a:t>
            </a:r>
          </a:p>
          <a:p>
            <a:endParaRPr lang="en-GB" sz="1100" b="1" dirty="0">
              <a:solidFill>
                <a:schemeClr val="tx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GB" sz="1100" b="1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max(datapoints)</a:t>
            </a:r>
          </a:p>
          <a:p>
            <a:r>
              <a:rPr lang="en-GB" sz="1100" b="1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Min(datapoints)</a:t>
            </a:r>
          </a:p>
          <a:p>
            <a:endParaRPr lang="en-GB" sz="1100" b="1" dirty="0">
              <a:solidFill>
                <a:schemeClr val="tx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GB" sz="1100" b="1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max(datapoints) – min(datapoints)</a:t>
            </a:r>
          </a:p>
          <a:p>
            <a:endParaRPr lang="en-GB" sz="1200" b="1" dirty="0">
              <a:solidFill>
                <a:schemeClr val="tx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GB" sz="1400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23732DF6-3B63-654F-5707-8D200F25BE2A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25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2C487-5080-96E9-46D4-9E0910043630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63912" y="6477686"/>
            <a:ext cx="155575" cy="146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60436" y="2731802"/>
            <a:ext cx="8303259" cy="1269578"/>
          </a:xfrm>
          <a:prstGeom prst="rect">
            <a:avLst/>
          </a:prstGeom>
          <a:solidFill>
            <a:srgbClr val="C5D9F0"/>
          </a:solidFill>
          <a:ln w="19811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90805">
              <a:spcBef>
                <a:spcPts val="200"/>
              </a:spcBef>
            </a:pPr>
            <a:r>
              <a:rPr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Lower quartile </a:t>
            </a:r>
            <a:r>
              <a:rPr sz="2000" b="1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(1</a:t>
            </a:r>
            <a:r>
              <a:rPr sz="2000" b="1" spc="-15" baseline="2430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st </a:t>
            </a:r>
            <a:r>
              <a:rPr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quartile,</a:t>
            </a:r>
            <a:r>
              <a:rPr sz="2000" b="1" spc="-16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Q1)</a:t>
            </a:r>
            <a:r>
              <a:rPr lang="en-GB"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(aka 25</a:t>
            </a:r>
            <a:r>
              <a:rPr lang="en-GB" sz="2000" b="1" spc="-5" baseline="30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</a:t>
            </a:r>
            <a:r>
              <a:rPr lang="en-GB"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percentile)</a:t>
            </a:r>
            <a:endParaRPr sz="2000" b="1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  <a:p>
            <a:pPr marL="90805">
              <a:spcBef>
                <a:spcPts val="1440"/>
              </a:spcBef>
            </a:pP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(n+1)/4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0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value </a:t>
            </a: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of </a:t>
            </a:r>
            <a:r>
              <a:rPr sz="20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ordered</a:t>
            </a:r>
            <a:r>
              <a:rPr sz="20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obs.</a:t>
            </a:r>
            <a:endParaRPr sz="2000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  <a:p>
            <a:pPr marL="90805">
              <a:spcBef>
                <a:spcPts val="1080"/>
              </a:spcBef>
            </a:pPr>
            <a:r>
              <a:rPr sz="2000" spc="-2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It’s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the </a:t>
            </a: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number </a:t>
            </a:r>
            <a:r>
              <a:rPr sz="20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below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which lies the 25% </a:t>
            </a: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of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the</a:t>
            </a:r>
            <a:r>
              <a:rPr lang="en-GB"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bottom </a:t>
            </a:r>
            <a:r>
              <a:rPr sz="20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data</a:t>
            </a:r>
            <a:endParaRPr sz="2000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6784" y="5412384"/>
            <a:ext cx="8330565" cy="1155445"/>
          </a:xfrm>
          <a:prstGeom prst="rect">
            <a:avLst/>
          </a:prstGeom>
          <a:solidFill>
            <a:srgbClr val="C5D9F0"/>
          </a:solidFill>
          <a:ln w="19811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90805">
              <a:spcBef>
                <a:spcPts val="210"/>
              </a:spcBef>
            </a:pPr>
            <a:r>
              <a:rPr sz="2000" b="1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Upper </a:t>
            </a:r>
            <a:r>
              <a:rPr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quartile </a:t>
            </a:r>
            <a:r>
              <a:rPr sz="2000" b="1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(3</a:t>
            </a:r>
            <a:r>
              <a:rPr sz="2000" b="1" spc="-22" baseline="2430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rd </a:t>
            </a:r>
            <a:r>
              <a:rPr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quartile,</a:t>
            </a:r>
            <a:r>
              <a:rPr sz="2000" b="1" spc="-12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Q3)</a:t>
            </a:r>
            <a:r>
              <a:rPr lang="en-GB"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(aka 75</a:t>
            </a:r>
            <a:r>
              <a:rPr lang="en-GB" sz="2000" b="1" spc="-5" baseline="30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</a:t>
            </a:r>
            <a:r>
              <a:rPr lang="en-GB"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percentile)</a:t>
            </a:r>
            <a:endParaRPr sz="2000" b="1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  <a:p>
            <a:pPr marL="90805">
              <a:spcBef>
                <a:spcPts val="1620"/>
              </a:spcBef>
              <a:tabLst>
                <a:tab pos="1788160" algn="l"/>
              </a:tabLst>
            </a:pP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3*(n+1)/4</a:t>
            </a:r>
            <a:r>
              <a:rPr lang="en-GB"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0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value </a:t>
            </a: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of </a:t>
            </a:r>
            <a:r>
              <a:rPr sz="20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ordered</a:t>
            </a:r>
            <a:r>
              <a:rPr sz="2000" spc="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0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obs.</a:t>
            </a:r>
            <a:endParaRPr sz="2000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  <a:p>
            <a:pPr marL="90805">
              <a:spcBef>
                <a:spcPts val="5"/>
              </a:spcBef>
            </a:pP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It </a:t>
            </a: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has 75% </a:t>
            </a:r>
            <a:r>
              <a:rPr sz="20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of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the </a:t>
            </a:r>
            <a:r>
              <a:rPr sz="20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data </a:t>
            </a:r>
            <a:r>
              <a:rPr sz="20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below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it &amp; the </a:t>
            </a:r>
            <a:r>
              <a:rPr sz="20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top </a:t>
            </a: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25% of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the </a:t>
            </a:r>
            <a:r>
              <a:rPr sz="20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data </a:t>
            </a:r>
            <a:r>
              <a:rPr sz="20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above</a:t>
            </a:r>
            <a:r>
              <a:rPr sz="2000" spc="-5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it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9780" y="1070509"/>
            <a:ext cx="11506200" cy="1128642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59055" algn="ctr">
              <a:spcBef>
                <a:spcPts val="725"/>
              </a:spcBef>
            </a:pPr>
            <a:r>
              <a:rPr sz="4800" b="1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Quartiles</a:t>
            </a:r>
            <a:r>
              <a:rPr lang="en-GB" sz="4800" b="1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and Interquartile range</a:t>
            </a:r>
            <a:endParaRPr sz="4800" b="1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  <a:p>
            <a:pPr algn="ctr">
              <a:spcBef>
                <a:spcPts val="310"/>
              </a:spcBef>
              <a:tabLst>
                <a:tab pos="5464175" algn="l"/>
              </a:tabLst>
            </a:pPr>
            <a:r>
              <a:rPr lang="en-GB"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Divide </a:t>
            </a:r>
            <a:r>
              <a:rPr lang="en-GB"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a </a:t>
            </a:r>
            <a:r>
              <a:rPr lang="en-GB"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range of </a:t>
            </a:r>
            <a:r>
              <a:rPr lang="en-GB" sz="24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data into </a:t>
            </a:r>
            <a:r>
              <a:rPr lang="en-GB"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four</a:t>
            </a:r>
            <a:r>
              <a:rPr lang="en-GB" sz="2400" spc="6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lang="en-GB"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equal</a:t>
            </a:r>
            <a:r>
              <a:rPr lang="en-GB" sz="2400" spc="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lang="en-GB"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parts	</a:t>
            </a:r>
            <a:r>
              <a:rPr lang="en-GB" sz="2400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100/</a:t>
            </a:r>
            <a:r>
              <a:rPr lang="en-GB" sz="24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4 </a:t>
            </a:r>
            <a:r>
              <a:rPr lang="en-GB" sz="2400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parts </a:t>
            </a:r>
            <a:r>
              <a:rPr lang="en-GB" sz="24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=</a:t>
            </a:r>
            <a:r>
              <a:rPr lang="en-GB" sz="2400" spc="-8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lang="en-GB" sz="2400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25%</a:t>
            </a:r>
            <a:endParaRPr lang="en-GB" sz="2400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8690" y="4314467"/>
            <a:ext cx="8328659" cy="846386"/>
          </a:xfrm>
          <a:prstGeom prst="rect">
            <a:avLst/>
          </a:prstGeom>
          <a:solidFill>
            <a:srgbClr val="C5D9F0"/>
          </a:solidFill>
          <a:ln w="19811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90170">
              <a:spcBef>
                <a:spcPts val="200"/>
              </a:spcBef>
            </a:pPr>
            <a:r>
              <a:rPr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2</a:t>
            </a:r>
            <a:r>
              <a:rPr sz="2000" b="1" spc="-7" baseline="2430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nd </a:t>
            </a:r>
            <a:r>
              <a:rPr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quartile (the</a:t>
            </a:r>
            <a:r>
              <a:rPr sz="2000" b="1" spc="-14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median</a:t>
            </a:r>
            <a:r>
              <a:rPr lang="en-GB"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, Q2</a:t>
            </a:r>
            <a:r>
              <a:rPr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)</a:t>
            </a:r>
            <a:r>
              <a:rPr lang="en-GB"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(aka 50</a:t>
            </a:r>
            <a:r>
              <a:rPr lang="en-GB" sz="2000" b="1" spc="-5" baseline="30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</a:t>
            </a:r>
            <a:r>
              <a:rPr lang="en-GB"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percentile)</a:t>
            </a:r>
            <a:endParaRPr sz="2000" b="1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  <a:p>
            <a:pPr marL="90170">
              <a:spcBef>
                <a:spcPts val="1620"/>
              </a:spcBef>
            </a:pP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Divides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the </a:t>
            </a:r>
            <a:r>
              <a:rPr sz="2000" spc="-2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range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in the middle &amp; </a:t>
            </a:r>
            <a:r>
              <a:rPr sz="20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has 50% of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the </a:t>
            </a:r>
            <a:r>
              <a:rPr sz="20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data </a:t>
            </a:r>
            <a:r>
              <a:rPr sz="20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below</a:t>
            </a:r>
            <a:r>
              <a:rPr sz="2000" spc="-4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B899C4-DF76-8C40-9FD2-6722C8EBE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18742CB-7F24-EE59-CFFD-0F0A6A356809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26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E40ED2-69A0-F914-6D93-B8D3A6E4CEC8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076" y="316288"/>
            <a:ext cx="11130449" cy="512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GB" sz="36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Example of Summarising data using quartiles and IQRs</a:t>
            </a:r>
            <a:endParaRPr sz="3600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025C7-D401-6C44-99B0-039051333A8A}"/>
              </a:ext>
            </a:extLst>
          </p:cNvPr>
          <p:cNvSpPr txBox="1"/>
          <p:nvPr/>
        </p:nvSpPr>
        <p:spPr>
          <a:xfrm>
            <a:off x="152400" y="1092694"/>
            <a:ext cx="118872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Find the median, the lower and upper quartile from these data points: </a:t>
            </a:r>
            <a:r>
              <a:rPr lang="en-GB" sz="22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1, 2, 5, 6, 7, 9, 12, 15, 18, 19, 27</a:t>
            </a:r>
            <a:endParaRPr lang="en-US" sz="2200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F36A55-3260-3443-9632-0A61F39B4136}"/>
                  </a:ext>
                </a:extLst>
              </p:cNvPr>
              <p:cNvSpPr txBox="1"/>
              <p:nvPr/>
            </p:nvSpPr>
            <p:spPr>
              <a:xfrm>
                <a:off x="369525" y="2053566"/>
                <a:ext cx="11049000" cy="3911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Solution:</a:t>
                </a:r>
              </a:p>
              <a:p>
                <a:r>
                  <a:rPr lang="en-GB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1, 2, </a:t>
                </a:r>
                <a:r>
                  <a:rPr lang="en-GB" dirty="0">
                    <a:solidFill>
                      <a:srgbClr val="0070C0"/>
                    </a:solidFill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5</a:t>
                </a:r>
                <a:r>
                  <a:rPr lang="en-GB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, 6, 7, </a:t>
                </a:r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9</a:t>
                </a:r>
                <a:r>
                  <a:rPr lang="en-GB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, 12, 15, </a:t>
                </a:r>
                <a:r>
                  <a:rPr lang="en-GB" dirty="0">
                    <a:solidFill>
                      <a:schemeClr val="accent6">
                        <a:lumMod val="50000"/>
                      </a:schemeClr>
                    </a:solidFill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18</a:t>
                </a:r>
                <a:r>
                  <a:rPr lang="en-GB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, 19, 27</a:t>
                </a:r>
                <a:endParaRPr lang="en-US" dirty="0">
                  <a:latin typeface="Helvetica Neue Thin" panose="020B0403020202020204" pitchFamily="34" charset="0"/>
                  <a:ea typeface="Helvetica Neue Thin" panose="020B0403020202020204" pitchFamily="34" charset="0"/>
                </a:endParaRPr>
              </a:p>
              <a:p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n = 11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Median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11+1</m:t>
                            </m:r>
                          </m:e>
                        </m:d>
                      </m:num>
                      <m:den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d>
                      </m:num>
                      <m:den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0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baseline="30000" dirty="0" err="1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th</a:t>
                </a:r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 position; So, the </a:t>
                </a:r>
                <a:r>
                  <a:rPr lang="en-US" dirty="0">
                    <a:solidFill>
                      <a:schemeClr val="accent3">
                        <a:lumMod val="50000"/>
                      </a:schemeClr>
                    </a:solidFill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median is 9</a:t>
                </a:r>
              </a:p>
              <a:p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Helvetica Neue Thin" panose="020B0403020202020204" pitchFamily="34" charset="0"/>
                  <a:ea typeface="Helvetica Neue Thin" panose="020B0403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Lower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quartile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11+1</m:t>
                            </m:r>
                          </m:e>
                        </m:d>
                      </m:num>
                      <m:den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d>
                      </m:num>
                      <m:den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GB" smtClean="0">
                        <a:latin typeface="Helvetica Neue Thin" panose="020B0403020202020204" pitchFamily="34" charset="0"/>
                        <a:ea typeface="Helvetica Neue Thin" panose="020B0403020202020204" pitchFamily="34" charset="0"/>
                      </a:rPr>
                      <m:t>3</m:t>
                    </m:r>
                    <m:r>
                      <m:rPr>
                        <m:nor/>
                      </m:rPr>
                      <a:rPr lang="en-GB" baseline="30000" smtClean="0">
                        <a:latin typeface="Helvetica Neue Thin" panose="020B0403020202020204" pitchFamily="34" charset="0"/>
                        <a:ea typeface="Helvetica Neue Thin" panose="020B0403020202020204" pitchFamily="34" charset="0"/>
                      </a:rPr>
                      <m:t>rd</m:t>
                    </m:r>
                    <m:r>
                      <m:rPr>
                        <m:nor/>
                      </m:rPr>
                      <a:rPr lang="en-GB" smtClean="0">
                        <a:latin typeface="Helvetica Neue Thin" panose="020B0403020202020204" pitchFamily="34" charset="0"/>
                        <a:ea typeface="Helvetica Neue Thin" panose="020B0403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position; So, the </a:t>
                </a:r>
                <a:r>
                  <a:rPr lang="en-US" dirty="0">
                    <a:solidFill>
                      <a:srgbClr val="0070C0"/>
                    </a:solidFill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lower quartile is 5</a:t>
                </a:r>
              </a:p>
              <a:p>
                <a:endParaRPr lang="en-US" dirty="0">
                  <a:solidFill>
                    <a:srgbClr val="0070C0"/>
                  </a:solidFill>
                  <a:latin typeface="Helvetica Neue Thin" panose="020B0403020202020204" pitchFamily="34" charset="0"/>
                  <a:ea typeface="Helvetica Neue Thin" panose="020B0403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Upper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quartile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11+1</m:t>
                            </m:r>
                          </m:e>
                        </m:d>
                      </m:num>
                      <m:den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d>
                      </m:num>
                      <m:den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GB" smtClean="0">
                        <a:latin typeface="Helvetica Neue Thin" panose="020B0403020202020204" pitchFamily="34" charset="0"/>
                        <a:ea typeface="Helvetica Neue Thin" panose="020B0403020202020204" pitchFamily="34" charset="0"/>
                      </a:rPr>
                      <m:t>9</m:t>
                    </m:r>
                    <m:r>
                      <m:rPr>
                        <m:nor/>
                      </m:rPr>
                      <a:rPr lang="en-GB" smtClean="0">
                        <a:latin typeface="Helvetica Neue Thin" panose="020B0403020202020204" pitchFamily="34" charset="0"/>
                        <a:ea typeface="Helvetica Neue Thin" panose="020B0403020202020204" pitchFamily="34" charset="0"/>
                      </a:rPr>
                      <m:t>th</m:t>
                    </m:r>
                    <m:r>
                      <m:rPr>
                        <m:nor/>
                      </m:rPr>
                      <a:rPr lang="en-GB" smtClean="0">
                        <a:latin typeface="Helvetica Neue Thin" panose="020B0403020202020204" pitchFamily="34" charset="0"/>
                        <a:ea typeface="Helvetica Neue Thin" panose="020B0403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position; 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upper quartile is 18</a:t>
                </a:r>
              </a:p>
              <a:p>
                <a:endParaRPr lang="en-US" dirty="0">
                  <a:solidFill>
                    <a:schemeClr val="accent6">
                      <a:lumMod val="50000"/>
                    </a:schemeClr>
                  </a:solidFill>
                  <a:latin typeface="Helvetica Neue Thin" panose="020B0403020202020204" pitchFamily="34" charset="0"/>
                  <a:ea typeface="Helvetica Neue Thin" panose="020B0403020202020204" pitchFamily="34" charset="0"/>
                </a:endParaRPr>
              </a:p>
              <a:p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To find the middle 50% of the data; IQR = 18 – 5 = 13 </a:t>
                </a:r>
              </a:p>
              <a:p>
                <a:endParaRPr lang="en-US" sz="2400" dirty="0">
                  <a:solidFill>
                    <a:srgbClr val="0070C0"/>
                  </a:solidFill>
                  <a:latin typeface="Helvetica Neue Thin" panose="020B0403020202020204" pitchFamily="34" charset="0"/>
                  <a:ea typeface="Helvetica Neue Thin" panose="020B0403020202020204" pitchFamily="34" charset="0"/>
                </a:endParaRPr>
              </a:p>
              <a:p>
                <a:pPr algn="ctr"/>
                <a:r>
                  <a:rPr lang="en-GB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1, 2, </a:t>
                </a:r>
                <a:r>
                  <a:rPr lang="en-GB" dirty="0">
                    <a:solidFill>
                      <a:srgbClr val="0070C0"/>
                    </a:solidFill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5</a:t>
                </a:r>
                <a:r>
                  <a:rPr lang="en-GB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, 6, 7, </a:t>
                </a:r>
                <a:r>
                  <a:rPr lang="en-GB" dirty="0">
                    <a:solidFill>
                      <a:schemeClr val="accent3">
                        <a:lumMod val="50000"/>
                      </a:schemeClr>
                    </a:solidFill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9</a:t>
                </a:r>
                <a:r>
                  <a:rPr lang="en-GB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, 12, 15, </a:t>
                </a:r>
                <a:r>
                  <a:rPr lang="en-GB" dirty="0">
                    <a:solidFill>
                      <a:schemeClr val="accent6">
                        <a:lumMod val="50000"/>
                      </a:schemeClr>
                    </a:solidFill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18</a:t>
                </a:r>
                <a:r>
                  <a:rPr lang="en-GB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, 19, 27</a:t>
                </a:r>
                <a:endParaRPr lang="en-US" dirty="0">
                  <a:latin typeface="Helvetica Neue Thin" panose="020B0403020202020204" pitchFamily="34" charset="0"/>
                  <a:ea typeface="Helvetica Neue Thin" panose="020B0403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F36A55-3260-3443-9632-0A61F39B4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25" y="2053566"/>
                <a:ext cx="11049000" cy="3911071"/>
              </a:xfrm>
              <a:prstGeom prst="rect">
                <a:avLst/>
              </a:prstGeom>
              <a:blipFill>
                <a:blip r:embed="rId2"/>
                <a:stretch>
                  <a:fillRect l="-574" t="-647" b="-16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0C472B-22F5-8345-83A4-69FBED21DDC0}"/>
              </a:ext>
            </a:extLst>
          </p:cNvPr>
          <p:cNvCxnSpPr/>
          <p:nvPr/>
        </p:nvCxnSpPr>
        <p:spPr>
          <a:xfrm>
            <a:off x="4419600" y="6248400"/>
            <a:ext cx="228600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C4EF75A-7A74-F141-A74A-F88A045D5D0B}"/>
              </a:ext>
            </a:extLst>
          </p:cNvPr>
          <p:cNvSpPr txBox="1"/>
          <p:nvPr/>
        </p:nvSpPr>
        <p:spPr>
          <a:xfrm>
            <a:off x="4412673" y="6265025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Middle 50% of the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346F54-6914-B748-9D16-BC9659C15246}"/>
              </a:ext>
            </a:extLst>
          </p:cNvPr>
          <p:cNvSpPr txBox="1"/>
          <p:nvPr/>
        </p:nvSpPr>
        <p:spPr>
          <a:xfrm>
            <a:off x="6691746" y="6179035"/>
            <a:ext cx="22860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Upper 25%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0E692-98C7-B448-B86F-0E1BB83A28DA}"/>
              </a:ext>
            </a:extLst>
          </p:cNvPr>
          <p:cNvSpPr txBox="1"/>
          <p:nvPr/>
        </p:nvSpPr>
        <p:spPr>
          <a:xfrm>
            <a:off x="2133600" y="6179035"/>
            <a:ext cx="22860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Lower 25%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3D7BEF-0EE7-3241-BF6E-9789E73F70BB}"/>
              </a:ext>
            </a:extLst>
          </p:cNvPr>
          <p:cNvSpPr/>
          <p:nvPr/>
        </p:nvSpPr>
        <p:spPr>
          <a:xfrm>
            <a:off x="8629402" y="2231467"/>
            <a:ext cx="3410198" cy="103466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In RStudio, the code for this would be:</a:t>
            </a:r>
          </a:p>
          <a:p>
            <a:endParaRPr lang="en-GB" sz="1100" b="1" dirty="0">
              <a:solidFill>
                <a:schemeClr val="tx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GB" sz="1100" b="1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datapoints &lt;- c(1, 2, 5, 6, 7, 8, 9, 12, 15, 18)</a:t>
            </a:r>
          </a:p>
          <a:p>
            <a:endParaRPr lang="en-GB" sz="1100" b="1" dirty="0">
              <a:solidFill>
                <a:schemeClr val="tx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GB" sz="1100" b="1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summary(datapoints)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2A211-DAE0-EB2E-E260-232C35713832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27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642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A089AB-6B4C-1F4E-8313-D7AB860D9AA7}"/>
              </a:ext>
            </a:extLst>
          </p:cNvPr>
          <p:cNvSpPr txBox="1">
            <a:spLocks/>
          </p:cNvSpPr>
          <p:nvPr/>
        </p:nvSpPr>
        <p:spPr>
          <a:xfrm>
            <a:off x="3068901" y="1193338"/>
            <a:ext cx="5481320" cy="512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5"/>
              </a:spcBef>
            </a:pPr>
            <a:r>
              <a:rPr lang="en-GB" sz="3600" b="1" spc="-15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Box </a:t>
            </a:r>
            <a:r>
              <a:rPr lang="en-GB" sz="3600" b="1" spc="-1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(whiskers)</a:t>
            </a:r>
            <a:r>
              <a:rPr lang="en-GB" sz="3600" b="1" spc="-4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en-GB" sz="3600" b="1" spc="-5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plot [1]</a:t>
            </a:r>
            <a:endParaRPr lang="en-GB" sz="3600" b="1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82439CD-B2EA-844D-AF8C-814B69F79238}"/>
              </a:ext>
            </a:extLst>
          </p:cNvPr>
          <p:cNvSpPr/>
          <p:nvPr/>
        </p:nvSpPr>
        <p:spPr>
          <a:xfrm>
            <a:off x="0" y="1923297"/>
            <a:ext cx="4392516" cy="42635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6C758C35-8A6A-C94A-9763-EC49DCF2D317}"/>
              </a:ext>
            </a:extLst>
          </p:cNvPr>
          <p:cNvSpPr txBox="1"/>
          <p:nvPr/>
        </p:nvSpPr>
        <p:spPr>
          <a:xfrm>
            <a:off x="3334463" y="2310994"/>
            <a:ext cx="4770738" cy="3488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spcBef>
                <a:spcPts val="100"/>
              </a:spcBef>
            </a:pPr>
            <a:r>
              <a:rPr sz="2000" b="1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Highest </a:t>
            </a:r>
            <a:r>
              <a:rPr sz="2000" b="1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value</a:t>
            </a:r>
            <a:endParaRPr lang="en-GB" sz="2000" b="1" dirty="0">
              <a:solidFill>
                <a:srgbClr val="1F487C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 marL="50800">
              <a:spcBef>
                <a:spcPts val="100"/>
              </a:spcBef>
            </a:pPr>
            <a:endParaRPr lang="en-GB" sz="2000" b="1" dirty="0">
              <a:solidFill>
                <a:srgbClr val="1F487C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 marL="50800">
              <a:spcBef>
                <a:spcPts val="100"/>
              </a:spcBef>
            </a:pPr>
            <a:endParaRPr lang="en-GB" sz="2000" b="1" spc="-5" dirty="0">
              <a:solidFill>
                <a:srgbClr val="1F487C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 marL="50800">
              <a:spcBef>
                <a:spcPts val="100"/>
              </a:spcBef>
            </a:pPr>
            <a:r>
              <a:rPr lang="en-GB" sz="2000" b="1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	     </a:t>
            </a:r>
            <a:r>
              <a:rPr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Upper quartile  </a:t>
            </a:r>
            <a:r>
              <a:rPr sz="2000" b="1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(75</a:t>
            </a:r>
            <a:r>
              <a:rPr sz="2000" b="1" spc="-7" baseline="2430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th</a:t>
            </a:r>
            <a:r>
              <a:rPr sz="2000" b="1" spc="270" baseline="2430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sz="2000" b="1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percentile)</a:t>
            </a:r>
            <a:endParaRPr sz="2000" b="1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>
              <a:spcBef>
                <a:spcPts val="20"/>
              </a:spcBef>
            </a:pPr>
            <a:endParaRPr sz="2000" b="1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 marL="1282700">
              <a:spcBef>
                <a:spcPts val="5"/>
              </a:spcBef>
            </a:pPr>
            <a:r>
              <a:rPr sz="2000" b="1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Median</a:t>
            </a:r>
            <a:endParaRPr lang="en-GB" sz="2000" b="1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 marL="1282700">
              <a:spcBef>
                <a:spcPts val="5"/>
              </a:spcBef>
            </a:pPr>
            <a:endParaRPr lang="en-GB" sz="2000" b="1" spc="-5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 marL="1282700">
              <a:spcBef>
                <a:spcPts val="5"/>
              </a:spcBef>
            </a:pPr>
            <a:r>
              <a:rPr sz="20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Lower quartile  </a:t>
            </a:r>
            <a:r>
              <a:rPr sz="2000" b="1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(25</a:t>
            </a:r>
            <a:r>
              <a:rPr sz="2000" b="1" spc="-7" baseline="2430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th</a:t>
            </a:r>
            <a:r>
              <a:rPr sz="2000" b="1" spc="277" baseline="2430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sz="2000" b="1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percentile)</a:t>
            </a:r>
            <a:endParaRPr sz="2000" b="1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 marL="50800">
              <a:spcBef>
                <a:spcPts val="1445"/>
              </a:spcBef>
            </a:pPr>
            <a:endParaRPr lang="en-GB" sz="2000" b="1" dirty="0">
              <a:solidFill>
                <a:srgbClr val="1F487C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  <a:p>
            <a:pPr marL="50800">
              <a:spcBef>
                <a:spcPts val="1445"/>
              </a:spcBef>
            </a:pPr>
            <a:r>
              <a:rPr sz="2000" b="1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Lowest</a:t>
            </a:r>
            <a:r>
              <a:rPr sz="2000" b="1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 </a:t>
            </a:r>
            <a:r>
              <a:rPr sz="2000" b="1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value</a:t>
            </a:r>
            <a:endParaRPr sz="2000" b="1" dirty="0"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3AD91B-76CB-A144-BE55-2D395CA6E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FA36D56-B454-0477-3515-CBB6714FC042}"/>
              </a:ext>
            </a:extLst>
          </p:cNvPr>
          <p:cNvSpPr/>
          <p:nvPr/>
        </p:nvSpPr>
        <p:spPr>
          <a:xfrm>
            <a:off x="116503" y="2310994"/>
            <a:ext cx="569541" cy="32589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A8E52B-B064-48CB-F5B1-8965C47157BE}"/>
              </a:ext>
            </a:extLst>
          </p:cNvPr>
          <p:cNvSpPr txBox="1"/>
          <p:nvPr/>
        </p:nvSpPr>
        <p:spPr>
          <a:xfrm>
            <a:off x="2973406" y="2856287"/>
            <a:ext cx="946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Whisker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48B6E-3C9D-AF2E-452B-9B74D3F382BA}"/>
              </a:ext>
            </a:extLst>
          </p:cNvPr>
          <p:cNvSpPr txBox="1"/>
          <p:nvPr/>
        </p:nvSpPr>
        <p:spPr>
          <a:xfrm>
            <a:off x="2973406" y="4791767"/>
            <a:ext cx="946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Whisker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9899DE-8D99-AC55-8D8F-56D1DBDF0C84}"/>
              </a:ext>
            </a:extLst>
          </p:cNvPr>
          <p:cNvSpPr txBox="1"/>
          <p:nvPr/>
        </p:nvSpPr>
        <p:spPr>
          <a:xfrm>
            <a:off x="1902306" y="2834195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25%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6C3733-92AB-9507-43B1-45CFC66E51BE}"/>
              </a:ext>
            </a:extLst>
          </p:cNvPr>
          <p:cNvSpPr txBox="1"/>
          <p:nvPr/>
        </p:nvSpPr>
        <p:spPr>
          <a:xfrm>
            <a:off x="1902306" y="3603893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25%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93C7C1-67A3-A50C-632B-82647DD09145}"/>
              </a:ext>
            </a:extLst>
          </p:cNvPr>
          <p:cNvSpPr txBox="1"/>
          <p:nvPr/>
        </p:nvSpPr>
        <p:spPr>
          <a:xfrm>
            <a:off x="1902306" y="4151382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6E1F99-C49E-5FD5-E13D-18F0D2627B27}"/>
              </a:ext>
            </a:extLst>
          </p:cNvPr>
          <p:cNvSpPr txBox="1"/>
          <p:nvPr/>
        </p:nvSpPr>
        <p:spPr>
          <a:xfrm>
            <a:off x="1902306" y="4921080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25%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4B3AAB-E46F-214E-9548-5FC06D21DFAD}"/>
              </a:ext>
            </a:extLst>
          </p:cNvPr>
          <p:cNvSpPr txBox="1"/>
          <p:nvPr/>
        </p:nvSpPr>
        <p:spPr>
          <a:xfrm>
            <a:off x="8105201" y="2059704"/>
            <a:ext cx="3970296" cy="41041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Why are box plots useful?</a:t>
            </a:r>
          </a:p>
          <a:p>
            <a:endParaRPr lang="en-GB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Box plots divides the data into section that each contain 25% of the data in the section</a:t>
            </a:r>
          </a:p>
          <a:p>
            <a:endParaRPr lang="en-GB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 provide a visual summary to quickly identify the pattern i.e., central and dispersion.</a:t>
            </a:r>
          </a:p>
          <a:p>
            <a:endParaRPr lang="en-GB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 its perfectly symmetrical (which most box plots are not) it is safe to assume the data is normally distributed, otherwise its skewed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F7BE524D-1761-9587-F1D3-E69BCFE3DBD3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28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A9B989-EF4B-7553-8D29-CCB651FBC188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0642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A1BD608-1B9C-94EE-7202-ECEE0CCCB770}"/>
              </a:ext>
            </a:extLst>
          </p:cNvPr>
          <p:cNvSpPr txBox="1">
            <a:spLocks/>
          </p:cNvSpPr>
          <p:nvPr/>
        </p:nvSpPr>
        <p:spPr>
          <a:xfrm>
            <a:off x="3053661" y="202738"/>
            <a:ext cx="5481320" cy="512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5"/>
              </a:spcBef>
            </a:pPr>
            <a:r>
              <a:rPr lang="en-GB" sz="3600" b="1" spc="-15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Box </a:t>
            </a:r>
            <a:r>
              <a:rPr lang="en-GB" sz="3600" b="1" spc="-1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(whiskers)</a:t>
            </a:r>
            <a:r>
              <a:rPr lang="en-GB" sz="3600" b="1" spc="-4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lang="en-GB" sz="3600" b="1" spc="-5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plot [2]</a:t>
            </a:r>
            <a:endParaRPr lang="en-GB" sz="3600" b="1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pic>
        <p:nvPicPr>
          <p:cNvPr id="5" name="Picture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DEDB06FD-83CF-705D-C7B4-293E06A24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1" y="1422400"/>
            <a:ext cx="5491747" cy="401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7BE1BB-3274-1EBD-2AB3-3B0CCEB9A197}"/>
              </a:ext>
            </a:extLst>
          </p:cNvPr>
          <p:cNvSpPr txBox="1"/>
          <p:nvPr/>
        </p:nvSpPr>
        <p:spPr>
          <a:xfrm>
            <a:off x="7447280" y="2004092"/>
            <a:ext cx="46404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box plot looks really centred on the median – so the distribution is considered normal. Traits: Mean, Median and Mode are the same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59F533-345A-1227-463D-1A1A718B7DDE}"/>
              </a:ext>
            </a:extLst>
          </p:cNvPr>
          <p:cNvSpPr txBox="1"/>
          <p:nvPr/>
        </p:nvSpPr>
        <p:spPr>
          <a:xfrm>
            <a:off x="7447280" y="3417927"/>
            <a:ext cx="46404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box plot shows the median centred on the left – so the distribution is considered positively skewed. Traits: Mode &gt; Median &gt; Mean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6836B-672E-E582-E949-1123533746C7}"/>
              </a:ext>
            </a:extLst>
          </p:cNvPr>
          <p:cNvSpPr txBox="1"/>
          <p:nvPr/>
        </p:nvSpPr>
        <p:spPr>
          <a:xfrm>
            <a:off x="7447280" y="4831762"/>
            <a:ext cx="46404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box plot shows the median centred on the right – so the distribution is considered negatively skewed. Traits: Mode &lt; Median &lt; Mean</a:t>
            </a:r>
          </a:p>
        </p:txBody>
      </p:sp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26E3B65D-F0F9-C302-45E9-A56090129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35" y="3002279"/>
            <a:ext cx="1248312" cy="11646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33B69A6F-44F0-2534-07A6-7AFD215C3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36" y="1639868"/>
            <a:ext cx="1248311" cy="11646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 descr="Diagram&#10;&#10;Description automatically generated">
            <a:extLst>
              <a:ext uri="{FF2B5EF4-FFF2-40B4-BE49-F238E27FC236}">
                <a16:creationId xmlns:a16="http://schemas.microsoft.com/office/drawing/2014/main" id="{A14402E7-383C-B148-AB30-18954F713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734" y="4358382"/>
            <a:ext cx="1248313" cy="1117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F9DF5-C86D-7B50-C346-9B6CA6AA7A19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29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723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8525" y="1211832"/>
            <a:ext cx="8453692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4800" spc="-4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Variance</a:t>
            </a:r>
            <a:endParaRPr sz="4800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5701" y="2126079"/>
            <a:ext cx="10840597" cy="2605842"/>
          </a:xfrm>
          <a:prstGeom prst="rect">
            <a:avLst/>
          </a:prstGeom>
          <a:noFill/>
          <a:ln w="19811">
            <a:noFill/>
          </a:ln>
        </p:spPr>
        <p:txBody>
          <a:bodyPr vert="horz" wrap="square" lIns="0" tIns="20320" rIns="0" bIns="0" rtlCol="0">
            <a:spAutoFit/>
          </a:bodyPr>
          <a:lstStyle/>
          <a:p>
            <a:pPr marL="433705" marR="332740" indent="-342900">
              <a:lnSpc>
                <a:spcPts val="4029"/>
              </a:lnSpc>
              <a:spcBef>
                <a:spcPts val="160"/>
              </a:spcBef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It is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defined </a:t>
            </a:r>
            <a:r>
              <a:rPr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in </a:t>
            </a: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terms of </a:t>
            </a:r>
            <a:r>
              <a:rPr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the </a:t>
            </a:r>
            <a:r>
              <a:rPr sz="2400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deviations of </a:t>
            </a:r>
            <a:r>
              <a:rPr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the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observations  </a:t>
            </a:r>
            <a:r>
              <a:rPr sz="24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from </a:t>
            </a:r>
            <a:r>
              <a:rPr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the</a:t>
            </a:r>
            <a:r>
              <a:rPr sz="2400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mean</a:t>
            </a:r>
          </a:p>
          <a:p>
            <a:pPr marL="433705" indent="-343535">
              <a:spcBef>
                <a:spcPts val="1405"/>
              </a:spcBef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Measures </a:t>
            </a:r>
            <a:r>
              <a:rPr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the </a:t>
            </a:r>
            <a:r>
              <a:rPr sz="2400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spread </a:t>
            </a:r>
            <a:r>
              <a:rPr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about the mean</a:t>
            </a:r>
            <a:endParaRPr lang="en-GB" sz="2400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  <a:p>
            <a:pPr marL="433705" indent="-343535">
              <a:spcBef>
                <a:spcPts val="1405"/>
              </a:spcBef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lang="en-GB"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Measures ‘somewhat’ the average distance between to observation and mean value</a:t>
            </a:r>
          </a:p>
          <a:p>
            <a:pPr marL="433705" indent="-343535">
              <a:spcBef>
                <a:spcPts val="1405"/>
              </a:spcBef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lang="en-GB" sz="200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We need to calculate this in order to get the standard deviation</a:t>
            </a:r>
          </a:p>
          <a:p>
            <a:pPr marL="433705" indent="-343535">
              <a:spcBef>
                <a:spcPts val="1405"/>
              </a:spcBef>
              <a:buFont typeface="Arial"/>
              <a:buChar char="•"/>
              <a:tabLst>
                <a:tab pos="433705" algn="l"/>
                <a:tab pos="434340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4800" y="4988900"/>
            <a:ext cx="435003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GB" sz="24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Low value for (</a:t>
            </a:r>
            <a:r>
              <a:rPr sz="24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↓</a:t>
            </a:r>
            <a:r>
              <a:rPr lang="en-GB" sz="24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) </a:t>
            </a:r>
            <a:r>
              <a:rPr sz="24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S</a:t>
            </a:r>
            <a:r>
              <a:rPr lang="en-GB" sz="2400" spc="-5" baseline="300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2</a:t>
            </a:r>
            <a:r>
              <a:rPr sz="2400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= </a:t>
            </a:r>
            <a:r>
              <a:rPr sz="2400" spc="-1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data are  </a:t>
            </a:r>
            <a:r>
              <a:rPr sz="2400" spc="-1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clustered </a:t>
            </a:r>
            <a:r>
              <a:rPr sz="2400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about</a:t>
            </a:r>
            <a:r>
              <a:rPr sz="2400" spc="-6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the  mean</a:t>
            </a:r>
            <a:endParaRPr sz="2400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4800" y="5921520"/>
            <a:ext cx="5022864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lang="en-GB" sz="24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High value (</a:t>
            </a:r>
            <a:r>
              <a:rPr sz="24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↑</a:t>
            </a:r>
            <a:r>
              <a:rPr lang="en-GB" sz="24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)</a:t>
            </a:r>
            <a:r>
              <a:rPr sz="24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400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S</a:t>
            </a:r>
            <a:r>
              <a:rPr lang="en-GB" sz="2400" spc="-5" baseline="300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2</a:t>
            </a:r>
            <a:r>
              <a:rPr sz="2400" spc="-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40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= </a:t>
            </a:r>
            <a:r>
              <a:rPr sz="2400" spc="-1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data</a:t>
            </a:r>
            <a:r>
              <a:rPr sz="2400" spc="-114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lang="en-GB" sz="2400" spc="-114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 </a:t>
            </a:r>
            <a:r>
              <a:rPr sz="2400" spc="-15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are </a:t>
            </a:r>
            <a:r>
              <a:rPr sz="2400" spc="-1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spread</a:t>
            </a:r>
            <a:endParaRPr lang="en-GB" sz="2400" spc="-10" dirty="0">
              <a:solidFill>
                <a:srgbClr val="1F487C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  <a:p>
            <a:pPr marL="12700" marR="5080">
              <a:spcBef>
                <a:spcPts val="100"/>
              </a:spcBef>
            </a:pPr>
            <a:r>
              <a:rPr lang="en-GB" sz="2400" spc="-10" dirty="0">
                <a:solidFill>
                  <a:srgbClr val="1F487C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Or disperse</a:t>
            </a:r>
            <a:endParaRPr sz="2400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B506BD-1D71-7E4F-AABC-52BA14B92D46}"/>
                  </a:ext>
                </a:extLst>
              </p:cNvPr>
              <p:cNvSpPr txBox="1"/>
              <p:nvPr/>
            </p:nvSpPr>
            <p:spPr>
              <a:xfrm>
                <a:off x="5327664" y="5174749"/>
                <a:ext cx="2654765" cy="8645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GB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B506BD-1D71-7E4F-AABC-52BA14B92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664" y="5174749"/>
                <a:ext cx="2654765" cy="864532"/>
              </a:xfrm>
              <a:prstGeom prst="rect">
                <a:avLst/>
              </a:prstGeom>
              <a:blipFill>
                <a:blip r:embed="rId2"/>
                <a:stretch>
                  <a:fillRect l="-1429" t="-82609" r="-952" b="-739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0C5DC5E8-D79D-C648-98AD-E6D9E6228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8DFDDC3-7B94-20E1-2701-2EBD246EB746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30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89FA6F-9A3C-5C71-B395-A575CEC8AF48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6844" y="1307510"/>
            <a:ext cx="6298311" cy="512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600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Standard</a:t>
            </a:r>
            <a:r>
              <a:rPr sz="3600" b="1" spc="-95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 </a:t>
            </a:r>
            <a:r>
              <a:rPr sz="3600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Deviation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38032" y="2131020"/>
            <a:ext cx="7832992" cy="1004762"/>
          </a:xfrm>
          <a:prstGeom prst="rect">
            <a:avLst/>
          </a:prstGeom>
          <a:noFill/>
          <a:ln w="19811">
            <a:noFill/>
          </a:ln>
        </p:spPr>
        <p:txBody>
          <a:bodyPr vert="horz" wrap="square" lIns="0" tIns="151765" rIns="0" bIns="0" rtlCol="0">
            <a:spAutoFit/>
          </a:bodyPr>
          <a:lstStyle/>
          <a:p>
            <a:pPr marL="90170" algn="just">
              <a:spcBef>
                <a:spcPts val="1195"/>
              </a:spcBef>
            </a:pPr>
            <a:r>
              <a:rPr sz="2400" b="1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It is </a:t>
            </a:r>
            <a:r>
              <a:rPr sz="2400" b="1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more </a:t>
            </a:r>
            <a:r>
              <a:rPr sz="24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convenient to </a:t>
            </a:r>
            <a:r>
              <a:rPr sz="2400" b="1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express the </a:t>
            </a:r>
            <a:r>
              <a:rPr sz="2400" b="1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variance</a:t>
            </a:r>
            <a:r>
              <a:rPr sz="2400" b="1" spc="17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 </a:t>
            </a:r>
            <a:r>
              <a:rPr sz="2400" b="1" spc="-1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in</a:t>
            </a:r>
            <a:endParaRPr sz="2400" b="1" dirty="0">
              <a:latin typeface="HELVETICA NEUE THIN" panose="020B0403020202020204" pitchFamily="34" charset="0"/>
              <a:ea typeface="HELVETICA NEUE THIN" panose="020B0403020202020204" pitchFamily="34" charset="0"/>
              <a:cs typeface="Verdana"/>
            </a:endParaRPr>
          </a:p>
          <a:p>
            <a:pPr marL="90170" marR="126364" algn="just">
              <a:lnSpc>
                <a:spcPct val="150000"/>
              </a:lnSpc>
              <a:spcBef>
                <a:spcPts val="5"/>
              </a:spcBef>
            </a:pPr>
            <a:r>
              <a:rPr sz="2400" b="1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the original </a:t>
            </a:r>
            <a:r>
              <a:rPr sz="2400" b="1" spc="-5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unit by taking </a:t>
            </a:r>
            <a:r>
              <a:rPr sz="2400" b="1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the square root of the  </a:t>
            </a:r>
            <a:r>
              <a:rPr sz="2400" b="1" spc="-10" dirty="0">
                <a:latin typeface="HELVETICA NEUE THIN" panose="020B0403020202020204" pitchFamily="34" charset="0"/>
                <a:ea typeface="HELVETICA NEUE THIN" panose="020B0403020202020204" pitchFamily="34" charset="0"/>
                <a:cs typeface="Verdana"/>
              </a:rPr>
              <a:t>variance</a:t>
            </a:r>
            <a:endParaRPr sz="2400" b="1" dirty="0">
              <a:latin typeface="HELVETICA NEUE THIN" panose="020B0403020202020204" pitchFamily="34" charset="0"/>
              <a:ea typeface="HELVETICA NEUE THIN" panose="020B0403020202020204" pitchFamily="34" charset="0"/>
              <a:cs typeface="Verdan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6E8C8D-18D5-1940-9CA8-468243EF69FD}"/>
                  </a:ext>
                </a:extLst>
              </p:cNvPr>
              <p:cNvSpPr txBox="1"/>
              <p:nvPr/>
            </p:nvSpPr>
            <p:spPr>
              <a:xfrm>
                <a:off x="4047781" y="3989268"/>
                <a:ext cx="3527056" cy="1636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1" i="0" smtClean="0"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sz="3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3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3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GB" sz="3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GB" sz="3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6E8C8D-18D5-1940-9CA8-468243EF6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781" y="3989268"/>
                <a:ext cx="3527056" cy="1636858"/>
              </a:xfrm>
              <a:prstGeom prst="rect">
                <a:avLst/>
              </a:prstGeom>
              <a:blipFill>
                <a:blip r:embed="rId3"/>
                <a:stretch>
                  <a:fillRect l="-2151" t="-38168" r="-717" b="-389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0396EFA-796A-BE45-A245-6CEEC2D4B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5924475-3D42-E537-4EE6-CE259ED23C67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31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6E98C9-E2E9-79E2-2A94-F0A2C15304B0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076" y="1425273"/>
            <a:ext cx="11130449" cy="5120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GB" sz="3600" b="1" dirty="0">
                <a:latin typeface="HELVETICA NEUE THIN" panose="020B0403020202020204" pitchFamily="34" charset="0"/>
                <a:ea typeface="HELVETICA NEUE THIN" panose="020B0403020202020204" pitchFamily="34" charset="0"/>
                <a:cs typeface="Calibri"/>
              </a:rPr>
              <a:t>Example: Variance and Standard Deviation</a:t>
            </a:r>
            <a:endParaRPr sz="3600" b="1" dirty="0">
              <a:latin typeface="HELVETICA NEUE THIN" panose="020B0403020202020204" pitchFamily="34" charset="0"/>
              <a:ea typeface="HELVETICA NEUE THIN" panose="020B0403020202020204" pitchFamily="34" charset="0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025C7-D401-6C44-99B0-039051333A8A}"/>
              </a:ext>
            </a:extLst>
          </p:cNvPr>
          <p:cNvSpPr txBox="1"/>
          <p:nvPr/>
        </p:nvSpPr>
        <p:spPr>
          <a:xfrm>
            <a:off x="533400" y="2541391"/>
            <a:ext cx="111252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Recall finding the mean from these 9 data points: 13, 18, 13, 14, 13, 16, 14, 21, 13</a:t>
            </a:r>
          </a:p>
          <a:p>
            <a:r>
              <a:rPr lang="en-US" sz="24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We estimated it as 15</a:t>
            </a:r>
          </a:p>
          <a:p>
            <a:endParaRPr lang="en-US" sz="2400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US" sz="24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Let measure how this data spreads around this value by calculating the variance and standard deviation</a:t>
            </a:r>
          </a:p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68A1A1-52C0-B948-9F02-EE034AFF693A}"/>
                  </a:ext>
                </a:extLst>
              </p:cNvPr>
              <p:cNvSpPr txBox="1"/>
              <p:nvPr/>
            </p:nvSpPr>
            <p:spPr>
              <a:xfrm>
                <a:off x="2809301" y="5188795"/>
                <a:ext cx="2375650" cy="741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68A1A1-52C0-B948-9F02-EE034AFF6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301" y="5188795"/>
                <a:ext cx="2375650" cy="741165"/>
              </a:xfrm>
              <a:prstGeom prst="rect">
                <a:avLst/>
              </a:prstGeom>
              <a:blipFill>
                <a:blip r:embed="rId2"/>
                <a:stretch>
                  <a:fillRect t="-81667" b="-7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912FC8-1969-2B49-AC18-A58C2907DF22}"/>
                  </a:ext>
                </a:extLst>
              </p:cNvPr>
              <p:cNvSpPr txBox="1"/>
              <p:nvPr/>
            </p:nvSpPr>
            <p:spPr>
              <a:xfrm>
                <a:off x="5476301" y="5013779"/>
                <a:ext cx="3527056" cy="10911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0" smtClean="0"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GB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GB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912FC8-1969-2B49-AC18-A58C2907D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301" y="5013779"/>
                <a:ext cx="3527056" cy="1091196"/>
              </a:xfrm>
              <a:prstGeom prst="rect">
                <a:avLst/>
              </a:prstGeom>
              <a:blipFill>
                <a:blip r:embed="rId3"/>
                <a:stretch>
                  <a:fillRect t="-39080" b="-40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hevron 2">
            <a:extLst>
              <a:ext uri="{FF2B5EF4-FFF2-40B4-BE49-F238E27FC236}">
                <a16:creationId xmlns:a16="http://schemas.microsoft.com/office/drawing/2014/main" id="{CA4DB14A-B96F-FB43-9838-A1F91F414622}"/>
              </a:ext>
            </a:extLst>
          </p:cNvPr>
          <p:cNvSpPr/>
          <p:nvPr/>
        </p:nvSpPr>
        <p:spPr>
          <a:xfrm>
            <a:off x="5476301" y="5459926"/>
            <a:ext cx="381000" cy="312547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32B1DD-47BF-6D44-A901-AE199B7CC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23"/>
            <a:ext cx="12192000" cy="97006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C092571-E411-C9C0-200A-F2F6D4D4F206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32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55B976-9F34-A2B7-1B9F-10C6BABC0ABC}"/>
              </a:ext>
            </a:extLst>
          </p:cNvPr>
          <p:cNvSpPr/>
          <p:nvPr/>
        </p:nvSpPr>
        <p:spPr>
          <a:xfrm>
            <a:off x="189716" y="238539"/>
            <a:ext cx="2402409" cy="3896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981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605AFC-1B4E-6543-9E42-316F2C19A3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8960277"/>
                  </p:ext>
                </p:extLst>
              </p:nvPr>
            </p:nvGraphicFramePr>
            <p:xfrm>
              <a:off x="609600" y="914400"/>
              <a:ext cx="9220200" cy="54311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44040">
                      <a:extLst>
                        <a:ext uri="{9D8B030D-6E8A-4147-A177-3AD203B41FA5}">
                          <a16:colId xmlns:a16="http://schemas.microsoft.com/office/drawing/2014/main" val="713344346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85066812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3128216601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1925761617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764293384"/>
                        </a:ext>
                      </a:extLst>
                    </a:gridCol>
                  </a:tblGrid>
                  <a:tr h="53640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GB" sz="20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oMath>
                            </m:oMathPara>
                          </a14:m>
                          <a:endParaRPr lang="en-US" sz="2000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307667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011167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550679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87602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301987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410883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2706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376353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9743366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2224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605AFC-1B4E-6543-9E42-316F2C19A3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8960277"/>
                  </p:ext>
                </p:extLst>
              </p:nvPr>
            </p:nvGraphicFramePr>
            <p:xfrm>
              <a:off x="609600" y="914400"/>
              <a:ext cx="9220200" cy="54311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44040">
                      <a:extLst>
                        <a:ext uri="{9D8B030D-6E8A-4147-A177-3AD203B41FA5}">
                          <a16:colId xmlns:a16="http://schemas.microsoft.com/office/drawing/2014/main" val="713344346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85066812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3128216601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1925761617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764293384"/>
                        </a:ext>
                      </a:extLst>
                    </a:gridCol>
                  </a:tblGrid>
                  <a:tr h="53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0" t="-2381" r="-402069" b="-9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90" t="-2381" r="-302069" b="-9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307667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011167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550679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87602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301987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410883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2706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376353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9743366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2224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9CE95FF-26EE-584C-9CA0-97C36678410B}"/>
              </a:ext>
            </a:extLst>
          </p:cNvPr>
          <p:cNvSpPr txBox="1"/>
          <p:nvPr/>
        </p:nvSpPr>
        <p:spPr>
          <a:xfrm>
            <a:off x="609600" y="112380"/>
            <a:ext cx="6927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Step 1: List the observations accordingly in a table </a:t>
            </a:r>
          </a:p>
          <a:p>
            <a:r>
              <a:rPr lang="en-US" sz="20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i.e., 13, 18, 13, 14, 13, 16, 14, 21, 13,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A8A5F3-0F67-7A43-A89C-08BCF2094874}"/>
                  </a:ext>
                </a:extLst>
              </p:cNvPr>
              <p:cNvSpPr txBox="1"/>
              <p:nvPr/>
            </p:nvSpPr>
            <p:spPr>
              <a:xfrm>
                <a:off x="9677400" y="201542"/>
                <a:ext cx="2272802" cy="741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A8A5F3-0F67-7A43-A89C-08BCF2094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400" y="201542"/>
                <a:ext cx="2272802" cy="741165"/>
              </a:xfrm>
              <a:prstGeom prst="rect">
                <a:avLst/>
              </a:prstGeom>
              <a:blipFill>
                <a:blip r:embed="rId4"/>
                <a:stretch>
                  <a:fillRect l="-2222" t="-81356" r="-556" b="-77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72A6661-FEAE-BE4B-0B4E-4F7C758DD6FB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33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27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605AFC-1B4E-6543-9E42-316F2C19A3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3278669"/>
                  </p:ext>
                </p:extLst>
              </p:nvPr>
            </p:nvGraphicFramePr>
            <p:xfrm>
              <a:off x="472190" y="772180"/>
              <a:ext cx="9220200" cy="54311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44040">
                      <a:extLst>
                        <a:ext uri="{9D8B030D-6E8A-4147-A177-3AD203B41FA5}">
                          <a16:colId xmlns:a16="http://schemas.microsoft.com/office/drawing/2014/main" val="713344346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85066812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3128216601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1925761617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764293384"/>
                        </a:ext>
                      </a:extLst>
                    </a:gridCol>
                  </a:tblGrid>
                  <a:tr h="53640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GB" sz="20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oMath>
                            </m:oMathPara>
                          </a14:m>
                          <a:endParaRPr lang="en-US" sz="2000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307667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011167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550679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87602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301987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410883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2706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376353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9743366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2224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605AFC-1B4E-6543-9E42-316F2C19A3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3278669"/>
                  </p:ext>
                </p:extLst>
              </p:nvPr>
            </p:nvGraphicFramePr>
            <p:xfrm>
              <a:off x="472190" y="772180"/>
              <a:ext cx="9220200" cy="54311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44040">
                      <a:extLst>
                        <a:ext uri="{9D8B030D-6E8A-4147-A177-3AD203B41FA5}">
                          <a16:colId xmlns:a16="http://schemas.microsoft.com/office/drawing/2014/main" val="713344346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85066812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3128216601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1925761617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764293384"/>
                        </a:ext>
                      </a:extLst>
                    </a:gridCol>
                  </a:tblGrid>
                  <a:tr h="53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0" r="-402069" b="-9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r="-299315" b="-9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307667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011167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550679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87602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301987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410883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2706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376353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9743366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2224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9CE95FF-26EE-584C-9CA0-97C36678410B}"/>
              </a:ext>
            </a:extLst>
          </p:cNvPr>
          <p:cNvSpPr txBox="1"/>
          <p:nvPr/>
        </p:nvSpPr>
        <p:spPr>
          <a:xfrm>
            <a:off x="459969" y="90234"/>
            <a:ext cx="6252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Step 2: Calculate the mean from the list of observed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B2E1E5-11AE-D340-87D1-76303BD254C5}"/>
                  </a:ext>
                </a:extLst>
              </p:cNvPr>
              <p:cNvSpPr txBox="1"/>
              <p:nvPr/>
            </p:nvSpPr>
            <p:spPr>
              <a:xfrm>
                <a:off x="2362200" y="6445120"/>
                <a:ext cx="15420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𝐌𝐞𝐚𝐧</m:t>
                      </m:r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B2E1E5-11AE-D340-87D1-76303BD25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6445120"/>
                <a:ext cx="1542089" cy="276999"/>
              </a:xfrm>
              <a:prstGeom prst="rect">
                <a:avLst/>
              </a:prstGeom>
              <a:blipFill>
                <a:blip r:embed="rId3"/>
                <a:stretch>
                  <a:fillRect l="-1639" t="-4348" r="-245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2415E8-AE33-2B42-A870-DF603C1E35E7}"/>
                  </a:ext>
                </a:extLst>
              </p:cNvPr>
              <p:cNvSpPr txBox="1"/>
              <p:nvPr/>
            </p:nvSpPr>
            <p:spPr>
              <a:xfrm>
                <a:off x="9601200" y="116174"/>
                <a:ext cx="2272802" cy="741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2415E8-AE33-2B42-A870-DF603C1E3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0" y="116174"/>
                <a:ext cx="2272802" cy="741165"/>
              </a:xfrm>
              <a:prstGeom prst="rect">
                <a:avLst/>
              </a:prstGeom>
              <a:blipFill>
                <a:blip r:embed="rId4"/>
                <a:stretch>
                  <a:fillRect l="-2793" t="-80000" r="-559" b="-7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0D19C84-9A5F-4040-A23F-53DFCE96DF75}"/>
              </a:ext>
            </a:extLst>
          </p:cNvPr>
          <p:cNvSpPr/>
          <p:nvPr/>
        </p:nvSpPr>
        <p:spPr>
          <a:xfrm>
            <a:off x="11353800" y="152400"/>
            <a:ext cx="228600" cy="30480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5152E-1721-4E47-97CB-6D756F239EF8}"/>
              </a:ext>
            </a:extLst>
          </p:cNvPr>
          <p:cNvSpPr/>
          <p:nvPr/>
        </p:nvSpPr>
        <p:spPr>
          <a:xfrm>
            <a:off x="3020291" y="1285220"/>
            <a:ext cx="457200" cy="48006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D1C4505-BA5A-30DF-F375-A886F7B1EFA5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34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756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605AFC-1B4E-6543-9E42-316F2C19A3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0753356"/>
                  </p:ext>
                </p:extLst>
              </p:nvPr>
            </p:nvGraphicFramePr>
            <p:xfrm>
              <a:off x="472190" y="772180"/>
              <a:ext cx="9220200" cy="54311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44040">
                      <a:extLst>
                        <a:ext uri="{9D8B030D-6E8A-4147-A177-3AD203B41FA5}">
                          <a16:colId xmlns:a16="http://schemas.microsoft.com/office/drawing/2014/main" val="713344346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85066812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3128216601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1925761617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764293384"/>
                        </a:ext>
                      </a:extLst>
                    </a:gridCol>
                  </a:tblGrid>
                  <a:tr h="53640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GB" sz="20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oMath>
                            </m:oMathPara>
                          </a14:m>
                          <a:endParaRPr lang="en-US" sz="2000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307667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011167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 – 15 = 3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550679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87602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301987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410883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 – 15 = 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2706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376353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 – 15 = 6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9743366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2224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605AFC-1B4E-6543-9E42-316F2C19A3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0753356"/>
                  </p:ext>
                </p:extLst>
              </p:nvPr>
            </p:nvGraphicFramePr>
            <p:xfrm>
              <a:off x="472190" y="772180"/>
              <a:ext cx="9220200" cy="54311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44040">
                      <a:extLst>
                        <a:ext uri="{9D8B030D-6E8A-4147-A177-3AD203B41FA5}">
                          <a16:colId xmlns:a16="http://schemas.microsoft.com/office/drawing/2014/main" val="713344346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85066812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3128216601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1925761617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764293384"/>
                        </a:ext>
                      </a:extLst>
                    </a:gridCol>
                  </a:tblGrid>
                  <a:tr h="53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0" r="-402069" b="-9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r="-299315" b="-9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379" r="-201379" b="-9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307667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011167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 – 15 = 3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550679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87602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301987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410883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 – 15 = 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2706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376353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 – 15 = 6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9743366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2224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9CE95FF-26EE-584C-9CA0-97C36678410B}"/>
              </a:ext>
            </a:extLst>
          </p:cNvPr>
          <p:cNvSpPr txBox="1"/>
          <p:nvPr/>
        </p:nvSpPr>
        <p:spPr>
          <a:xfrm>
            <a:off x="472190" y="64294"/>
            <a:ext cx="6252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Step 3: Calculate the difference between the observed value and the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B2E1E5-11AE-D340-87D1-76303BD254C5}"/>
                  </a:ext>
                </a:extLst>
              </p:cNvPr>
              <p:cNvSpPr txBox="1"/>
              <p:nvPr/>
            </p:nvSpPr>
            <p:spPr>
              <a:xfrm>
                <a:off x="2362200" y="6445120"/>
                <a:ext cx="15420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𝐌𝐞𝐚𝐧</m:t>
                      </m:r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B2E1E5-11AE-D340-87D1-76303BD25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6445120"/>
                <a:ext cx="1542089" cy="276999"/>
              </a:xfrm>
              <a:prstGeom prst="rect">
                <a:avLst/>
              </a:prstGeom>
              <a:blipFill>
                <a:blip r:embed="rId3"/>
                <a:stretch>
                  <a:fillRect l="-1639" t="-4348" r="-245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2415E8-AE33-2B42-A870-DF603C1E35E7}"/>
                  </a:ext>
                </a:extLst>
              </p:cNvPr>
              <p:cNvSpPr txBox="1"/>
              <p:nvPr/>
            </p:nvSpPr>
            <p:spPr>
              <a:xfrm>
                <a:off x="9601200" y="116174"/>
                <a:ext cx="2272802" cy="741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2415E8-AE33-2B42-A870-DF603C1E3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0" y="116174"/>
                <a:ext cx="2272802" cy="741165"/>
              </a:xfrm>
              <a:prstGeom prst="rect">
                <a:avLst/>
              </a:prstGeom>
              <a:blipFill>
                <a:blip r:embed="rId4"/>
                <a:stretch>
                  <a:fillRect l="-2793" t="-80000" r="-559" b="-7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26B7FCF-C8E7-2849-961B-435CC3A241AF}"/>
              </a:ext>
            </a:extLst>
          </p:cNvPr>
          <p:cNvSpPr/>
          <p:nvPr/>
        </p:nvSpPr>
        <p:spPr>
          <a:xfrm>
            <a:off x="10668000" y="116174"/>
            <a:ext cx="990600" cy="41722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F559998-FAA7-3ED3-F921-050423869DF8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35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612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605AFC-1B4E-6543-9E42-316F2C19A3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600209"/>
                  </p:ext>
                </p:extLst>
              </p:nvPr>
            </p:nvGraphicFramePr>
            <p:xfrm>
              <a:off x="472190" y="772180"/>
              <a:ext cx="9220200" cy="552733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44040">
                      <a:extLst>
                        <a:ext uri="{9D8B030D-6E8A-4147-A177-3AD203B41FA5}">
                          <a16:colId xmlns:a16="http://schemas.microsoft.com/office/drawing/2014/main" val="713344346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85066812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3128216601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1925761617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764293384"/>
                        </a:ext>
                      </a:extLst>
                    </a:gridCol>
                  </a:tblGrid>
                  <a:tr h="53640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GB" sz="20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oMath>
                            </m:oMathPara>
                          </a14:m>
                          <a:endParaRPr lang="en-US" sz="2000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0" smtClean="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0" smtClean="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</m:acc>
                                    <m: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307667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011167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 – 15 = 3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(3)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9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550679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87602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301987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410883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 – 15 = 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2706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376353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 – 15 = 6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(6)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36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9743366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2224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605AFC-1B4E-6543-9E42-316F2C19A3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600209"/>
                  </p:ext>
                </p:extLst>
              </p:nvPr>
            </p:nvGraphicFramePr>
            <p:xfrm>
              <a:off x="472190" y="772180"/>
              <a:ext cx="9220200" cy="552733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44040">
                      <a:extLst>
                        <a:ext uri="{9D8B030D-6E8A-4147-A177-3AD203B41FA5}">
                          <a16:colId xmlns:a16="http://schemas.microsoft.com/office/drawing/2014/main" val="713344346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85066812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3128216601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1925761617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764293384"/>
                        </a:ext>
                      </a:extLst>
                    </a:gridCol>
                  </a:tblGrid>
                  <a:tr h="53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0" r="-402069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r="-299315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379" r="-201379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9315" r="-100000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307667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011167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 – 15 = 3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(3)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9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550679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87602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301987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410883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 – 15 = 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2706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376353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 – 15 = 6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(6)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36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9743366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2224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9CE95FF-26EE-584C-9CA0-97C36678410B}"/>
              </a:ext>
            </a:extLst>
          </p:cNvPr>
          <p:cNvSpPr txBox="1"/>
          <p:nvPr/>
        </p:nvSpPr>
        <p:spPr>
          <a:xfrm>
            <a:off x="472190" y="64294"/>
            <a:ext cx="6252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Step 4: Calculate the squared difference between the observed value and the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B2E1E5-11AE-D340-87D1-76303BD254C5}"/>
                  </a:ext>
                </a:extLst>
              </p:cNvPr>
              <p:cNvSpPr txBox="1"/>
              <p:nvPr/>
            </p:nvSpPr>
            <p:spPr>
              <a:xfrm>
                <a:off x="2362200" y="6445120"/>
                <a:ext cx="15420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𝐌𝐞𝐚𝐧</m:t>
                      </m:r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B2E1E5-11AE-D340-87D1-76303BD25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6445120"/>
                <a:ext cx="1542089" cy="276999"/>
              </a:xfrm>
              <a:prstGeom prst="rect">
                <a:avLst/>
              </a:prstGeom>
              <a:blipFill>
                <a:blip r:embed="rId3"/>
                <a:stretch>
                  <a:fillRect l="-1639" t="-4348" r="-245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2415E8-AE33-2B42-A870-DF603C1E35E7}"/>
                  </a:ext>
                </a:extLst>
              </p:cNvPr>
              <p:cNvSpPr txBox="1"/>
              <p:nvPr/>
            </p:nvSpPr>
            <p:spPr>
              <a:xfrm>
                <a:off x="9601200" y="116174"/>
                <a:ext cx="2272802" cy="741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2415E8-AE33-2B42-A870-DF603C1E3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0" y="116174"/>
                <a:ext cx="2272802" cy="741165"/>
              </a:xfrm>
              <a:prstGeom prst="rect">
                <a:avLst/>
              </a:prstGeom>
              <a:blipFill>
                <a:blip r:embed="rId4"/>
                <a:stretch>
                  <a:fillRect l="-2793" t="-80000" r="-559" b="-7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FFA77D1-279C-AC47-B8F9-E489526ECE34}"/>
              </a:ext>
            </a:extLst>
          </p:cNvPr>
          <p:cNvSpPr/>
          <p:nvPr/>
        </p:nvSpPr>
        <p:spPr>
          <a:xfrm>
            <a:off x="10668000" y="116174"/>
            <a:ext cx="1206002" cy="417226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CA66AA7-DF3E-6863-26E8-150569829414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36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3946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605AFC-1B4E-6543-9E42-316F2C19A3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793669"/>
                  </p:ext>
                </p:extLst>
              </p:nvPr>
            </p:nvGraphicFramePr>
            <p:xfrm>
              <a:off x="472190" y="844351"/>
              <a:ext cx="7376160" cy="552733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44040">
                      <a:extLst>
                        <a:ext uri="{9D8B030D-6E8A-4147-A177-3AD203B41FA5}">
                          <a16:colId xmlns:a16="http://schemas.microsoft.com/office/drawing/2014/main" val="713344346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85066812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3128216601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1925761617"/>
                        </a:ext>
                      </a:extLst>
                    </a:gridCol>
                  </a:tblGrid>
                  <a:tr h="53640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GB" sz="20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oMath>
                            </m:oMathPara>
                          </a14:m>
                          <a:endParaRPr lang="en-US" sz="2000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0" smtClean="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0" smtClean="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</m:acc>
                                    <m: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07667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11167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 – 15 = 3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(3)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9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550679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87602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301987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410883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 – 15 = 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22706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4376353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 – 15 = 6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(6)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36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9743366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224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605AFC-1B4E-6543-9E42-316F2C19A3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793669"/>
                  </p:ext>
                </p:extLst>
              </p:nvPr>
            </p:nvGraphicFramePr>
            <p:xfrm>
              <a:off x="472190" y="844351"/>
              <a:ext cx="7376160" cy="552733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44040">
                      <a:extLst>
                        <a:ext uri="{9D8B030D-6E8A-4147-A177-3AD203B41FA5}">
                          <a16:colId xmlns:a16="http://schemas.microsoft.com/office/drawing/2014/main" val="713344346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85066812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3128216601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1925761617"/>
                        </a:ext>
                      </a:extLst>
                    </a:gridCol>
                  </a:tblGrid>
                  <a:tr h="53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0" t="-2381" r="-302069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381" r="-200000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379" t="-2381" r="-101379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1379" t="-2381" r="-1379" b="-94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07667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11167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 – 15 = 3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(3)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9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550679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87602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301987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410883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 – 15 = 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22706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4376353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 – 15 = 6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(6)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36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9743366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224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9CE95FF-26EE-584C-9CA0-97C36678410B}"/>
              </a:ext>
            </a:extLst>
          </p:cNvPr>
          <p:cNvSpPr txBox="1"/>
          <p:nvPr/>
        </p:nvSpPr>
        <p:spPr>
          <a:xfrm>
            <a:off x="472190" y="64294"/>
            <a:ext cx="6252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Step 5: Calculate the SUM of the squared differences between the observed value and the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B2E1E5-11AE-D340-87D1-76303BD254C5}"/>
                  </a:ext>
                </a:extLst>
              </p:cNvPr>
              <p:cNvSpPr txBox="1"/>
              <p:nvPr/>
            </p:nvSpPr>
            <p:spPr>
              <a:xfrm>
                <a:off x="2362200" y="6445120"/>
                <a:ext cx="15420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𝐌𝐞𝐚𝐧</m:t>
                      </m:r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B2E1E5-11AE-D340-87D1-76303BD25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6445120"/>
                <a:ext cx="1542089" cy="276999"/>
              </a:xfrm>
              <a:prstGeom prst="rect">
                <a:avLst/>
              </a:prstGeom>
              <a:blipFill>
                <a:blip r:embed="rId3"/>
                <a:stretch>
                  <a:fillRect l="-1639" t="-4348" r="-245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2415E8-AE33-2B42-A870-DF603C1E35E7}"/>
                  </a:ext>
                </a:extLst>
              </p:cNvPr>
              <p:cNvSpPr txBox="1"/>
              <p:nvPr/>
            </p:nvSpPr>
            <p:spPr>
              <a:xfrm>
                <a:off x="9601200" y="116174"/>
                <a:ext cx="2272802" cy="741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2415E8-AE33-2B42-A870-DF603C1E3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0" y="116174"/>
                <a:ext cx="2272802" cy="741165"/>
              </a:xfrm>
              <a:prstGeom prst="rect">
                <a:avLst/>
              </a:prstGeom>
              <a:blipFill>
                <a:blip r:embed="rId4"/>
                <a:stretch>
                  <a:fillRect l="-2793" t="-80000" r="-559" b="-7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BAC88E0-3A48-9E4D-9C20-6AB7CCDDF39A}"/>
              </a:ext>
            </a:extLst>
          </p:cNvPr>
          <p:cNvSpPr/>
          <p:nvPr/>
        </p:nvSpPr>
        <p:spPr>
          <a:xfrm>
            <a:off x="7010400" y="1371600"/>
            <a:ext cx="457200" cy="48006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10478E-7440-AB41-A4AC-85EBB209985E}"/>
              </a:ext>
            </a:extLst>
          </p:cNvPr>
          <p:cNvSpPr/>
          <p:nvPr/>
        </p:nvSpPr>
        <p:spPr>
          <a:xfrm>
            <a:off x="10294495" y="17650"/>
            <a:ext cx="1587002" cy="4691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823A77-3978-2446-9428-3039B621114F}"/>
                  </a:ext>
                </a:extLst>
              </p:cNvPr>
              <p:cNvSpPr/>
              <p:nvPr/>
            </p:nvSpPr>
            <p:spPr>
              <a:xfrm>
                <a:off x="5990688" y="6244371"/>
                <a:ext cx="2036648" cy="7630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𝟔𝟒</m:t>
                          </m:r>
                        </m:e>
                      </m:nary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823A77-3978-2446-9428-3039B62111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688" y="6244371"/>
                <a:ext cx="2036648" cy="763029"/>
              </a:xfrm>
              <a:prstGeom prst="rect">
                <a:avLst/>
              </a:prstGeom>
              <a:blipFill>
                <a:blip r:embed="rId5"/>
                <a:stretch>
                  <a:fillRect l="-36025" t="-125000" b="-17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5A6F72A-F111-6A02-C6DE-B3D28C9E7B20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37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8818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605AFC-1B4E-6543-9E42-316F2C19A3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8172212"/>
                  </p:ext>
                </p:extLst>
              </p:nvPr>
            </p:nvGraphicFramePr>
            <p:xfrm>
              <a:off x="472190" y="772180"/>
              <a:ext cx="7376160" cy="552733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44040">
                      <a:extLst>
                        <a:ext uri="{9D8B030D-6E8A-4147-A177-3AD203B41FA5}">
                          <a16:colId xmlns:a16="http://schemas.microsoft.com/office/drawing/2014/main" val="713344346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85066812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3128216601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1925761617"/>
                        </a:ext>
                      </a:extLst>
                    </a:gridCol>
                  </a:tblGrid>
                  <a:tr h="53640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GB" sz="20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oMath>
                            </m:oMathPara>
                          </a14:m>
                          <a:endParaRPr lang="en-US" sz="2000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GB" sz="2000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0" smtClean="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GB" b="0" i="0" smtClean="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</m:acc>
                                    <m: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07667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11167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 – 15 = 3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(3)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9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550679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87602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301987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410883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 – 15 = 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22706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4376353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 – 15 = 6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(6)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36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9743366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224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B605AFC-1B4E-6543-9E42-316F2C19A3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8172212"/>
                  </p:ext>
                </p:extLst>
              </p:nvPr>
            </p:nvGraphicFramePr>
            <p:xfrm>
              <a:off x="472190" y="772180"/>
              <a:ext cx="7376160" cy="552733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44040">
                      <a:extLst>
                        <a:ext uri="{9D8B030D-6E8A-4147-A177-3AD203B41FA5}">
                          <a16:colId xmlns:a16="http://schemas.microsoft.com/office/drawing/2014/main" val="713344346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85066812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3128216601"/>
                        </a:ext>
                      </a:extLst>
                    </a:gridCol>
                    <a:gridCol w="1844040">
                      <a:extLst>
                        <a:ext uri="{9D8B030D-6E8A-4147-A177-3AD203B41FA5}">
                          <a16:colId xmlns:a16="http://schemas.microsoft.com/office/drawing/2014/main" val="1925761617"/>
                        </a:ext>
                      </a:extLst>
                    </a:gridCol>
                  </a:tblGrid>
                  <a:tr h="536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90" r="-302069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r="-200000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379" r="-101379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379" r="-1379" b="-94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07667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011167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18 – 15 = 3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(3)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9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550679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876027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301987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  <a:p>
                          <a:pPr algn="ctr"/>
                          <a:endParaRPr lang="en-US" b="0" i="0" dirty="0">
                            <a:latin typeface="Helvetica Neue Thin" panose="020B0403020202020204" pitchFamily="34" charset="0"/>
                            <a:ea typeface="Helvetica Neue Thin" panose="020B0403020202020204" pitchFamily="34" charset="0"/>
                          </a:endParaRP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4108832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16 – 15 = 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227064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14 – 15 = -1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(-1)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4376353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21 – 15 = 6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(6)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36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9743366"/>
                      </a:ext>
                    </a:extLst>
                  </a:tr>
                  <a:tr h="5438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13 – 15 = -2</a:t>
                          </a:r>
                        </a:p>
                      </a:txBody>
                      <a:tcPr>
                        <a:solidFill>
                          <a:schemeClr val="accent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(-2)</a:t>
                          </a:r>
                          <a:r>
                            <a:rPr lang="en-US" b="0" i="0" baseline="3000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2</a:t>
                          </a:r>
                          <a:r>
                            <a:rPr lang="en-US" b="0" i="0" dirty="0">
                              <a:latin typeface="Helvetica Neue Thin" panose="020B0403020202020204" pitchFamily="34" charset="0"/>
                              <a:ea typeface="Helvetica Neue Thin" panose="020B0403020202020204" pitchFamily="34" charset="0"/>
                            </a:rPr>
                            <a:t> = 4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22244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B2E1E5-11AE-D340-87D1-76303BD254C5}"/>
                  </a:ext>
                </a:extLst>
              </p:cNvPr>
              <p:cNvSpPr txBox="1"/>
              <p:nvPr/>
            </p:nvSpPr>
            <p:spPr>
              <a:xfrm>
                <a:off x="2362200" y="6445120"/>
                <a:ext cx="15420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𝐌𝐞𝐚𝐧</m:t>
                      </m:r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B2E1E5-11AE-D340-87D1-76303BD25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6445120"/>
                <a:ext cx="1542089" cy="276999"/>
              </a:xfrm>
              <a:prstGeom prst="rect">
                <a:avLst/>
              </a:prstGeom>
              <a:blipFill>
                <a:blip r:embed="rId4"/>
                <a:stretch>
                  <a:fillRect l="-1639" t="-4348" r="-245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823A77-3978-2446-9428-3039B621114F}"/>
                  </a:ext>
                </a:extLst>
              </p:cNvPr>
              <p:cNvSpPr/>
              <p:nvPr/>
            </p:nvSpPr>
            <p:spPr>
              <a:xfrm>
                <a:off x="5990688" y="6244371"/>
                <a:ext cx="2036648" cy="7630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𝟔𝟒</m:t>
                          </m:r>
                        </m:e>
                      </m:nary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823A77-3978-2446-9428-3039B62111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688" y="6244371"/>
                <a:ext cx="2036648" cy="763029"/>
              </a:xfrm>
              <a:prstGeom prst="rect">
                <a:avLst/>
              </a:prstGeom>
              <a:blipFill>
                <a:blip r:embed="rId5"/>
                <a:stretch>
                  <a:fillRect l="-36025" t="-125000" b="-17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2FECA2-9105-8146-94B3-DC1BE3D17082}"/>
                  </a:ext>
                </a:extLst>
              </p:cNvPr>
              <p:cNvSpPr txBox="1"/>
              <p:nvPr/>
            </p:nvSpPr>
            <p:spPr>
              <a:xfrm>
                <a:off x="8790482" y="1461078"/>
                <a:ext cx="3111002" cy="2308324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S</a:t>
                </a:r>
                <a:r>
                  <a:rPr lang="en-US" baseline="30000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2</a:t>
                </a:r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 = 64/(9-1) = 64/8 = 8</a:t>
                </a:r>
              </a:p>
              <a:p>
                <a:endParaRPr lang="en-US" dirty="0">
                  <a:latin typeface="Helvetica Neue Thin" panose="020B0403020202020204" pitchFamily="34" charset="0"/>
                  <a:ea typeface="Helvetica Neue Thin" panose="020B0403020202020204" pitchFamily="34" charset="0"/>
                </a:endParaRPr>
              </a:p>
              <a:p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S</a:t>
                </a:r>
                <a:r>
                  <a:rPr lang="en-US" baseline="30000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2</a:t>
                </a:r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 which is the variance is estimated to be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8.</a:t>
                </a:r>
              </a:p>
              <a:p>
                <a:endParaRPr lang="en-US" dirty="0">
                  <a:latin typeface="Helvetica Neue Thin" panose="020B0403020202020204" pitchFamily="34" charset="0"/>
                  <a:ea typeface="Helvetica Neue Thin" panose="020B0403020202020204" pitchFamily="34" charset="0"/>
                </a:endParaRPr>
              </a:p>
              <a:p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We added a plus/minus sign because we are measuring the spread around the mean.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2FECA2-9105-8146-94B3-DC1BE3D17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482" y="1461078"/>
                <a:ext cx="3111002" cy="2308324"/>
              </a:xfrm>
              <a:prstGeom prst="rect">
                <a:avLst/>
              </a:prstGeom>
              <a:blipFill>
                <a:blip r:embed="rId6"/>
                <a:stretch>
                  <a:fillRect l="-1633" t="-1648" b="-32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C737CDF-D32E-7443-94C5-6097BD5CCB4C}"/>
                  </a:ext>
                </a:extLst>
              </p:cNvPr>
              <p:cNvSpPr txBox="1"/>
              <p:nvPr/>
            </p:nvSpPr>
            <p:spPr>
              <a:xfrm>
                <a:off x="8374428" y="70540"/>
                <a:ext cx="3527056" cy="10911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0" smtClean="0"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GB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GB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C737CDF-D32E-7443-94C5-6097BD5CC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428" y="70540"/>
                <a:ext cx="3527056" cy="1091196"/>
              </a:xfrm>
              <a:prstGeom prst="rect">
                <a:avLst/>
              </a:prstGeom>
              <a:blipFill>
                <a:blip r:embed="rId7"/>
                <a:stretch>
                  <a:fillRect t="-38372" b="-39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3D47469-6458-334B-854A-19CC18605251}"/>
              </a:ext>
            </a:extLst>
          </p:cNvPr>
          <p:cNvSpPr/>
          <p:nvPr/>
        </p:nvSpPr>
        <p:spPr>
          <a:xfrm>
            <a:off x="9525000" y="64294"/>
            <a:ext cx="1981200" cy="123110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74C3C6-92DA-524E-B074-EDF5B658370B}"/>
                  </a:ext>
                </a:extLst>
              </p:cNvPr>
              <p:cNvSpPr txBox="1"/>
              <p:nvPr/>
            </p:nvSpPr>
            <p:spPr>
              <a:xfrm>
                <a:off x="8790482" y="3935080"/>
                <a:ext cx="3111002" cy="1503425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S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2.828. This is the result we are seeking to show the were the mean lies in the data (or how the data deviates away from the mean)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74C3C6-92DA-524E-B074-EDF5B6583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482" y="3935080"/>
                <a:ext cx="3111002" cy="1503425"/>
              </a:xfrm>
              <a:prstGeom prst="rect">
                <a:avLst/>
              </a:prstGeom>
              <a:blipFill>
                <a:blip r:embed="rId8"/>
                <a:stretch>
                  <a:fillRect l="-1633" t="-840" r="-2041" b="-50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819989-921C-1542-817F-83633E584A5D}"/>
                  </a:ext>
                </a:extLst>
              </p:cNvPr>
              <p:cNvSpPr txBox="1"/>
              <p:nvPr/>
            </p:nvSpPr>
            <p:spPr>
              <a:xfrm>
                <a:off x="8374428" y="5798789"/>
                <a:ext cx="37175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Interpretation: the average is 15 with a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dirty="0">
                    <a:latin typeface="Helvetica Neue Thin" panose="020B0403020202020204" pitchFamily="34" charset="0"/>
                    <a:ea typeface="Helvetica Neue Thin" panose="020B0403020202020204" pitchFamily="34" charset="0"/>
                  </a:rPr>
                  <a:t>2.828 error or deviation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819989-921C-1542-817F-83633E584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428" y="5798789"/>
                <a:ext cx="3717561" cy="646331"/>
              </a:xfrm>
              <a:prstGeom prst="rect">
                <a:avLst/>
              </a:prstGeom>
              <a:blipFill>
                <a:blip r:embed="rId9"/>
                <a:stretch>
                  <a:fillRect l="-1361" t="-3846" b="-134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1360B1C-C943-4875-5BE1-9188096CE301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38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9041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3D40EA-6D14-83A2-E239-23C7895C73CF}"/>
              </a:ext>
            </a:extLst>
          </p:cNvPr>
          <p:cNvSpPr txBox="1"/>
          <p:nvPr/>
        </p:nvSpPr>
        <p:spPr>
          <a:xfrm>
            <a:off x="3848221" y="2782669"/>
            <a:ext cx="4008304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GB" sz="3600" b="1" dirty="0">
                <a:solidFill>
                  <a:schemeClr val="accent4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Break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8D0247C-9868-A45A-2AD5-141AC748B251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solidFill>
                  <a:schemeClr val="bg1"/>
                </a:solidFill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39</a:t>
            </a:fld>
            <a:endParaRPr lang="en-US" altLang="x-none" b="1" dirty="0">
              <a:solidFill>
                <a:schemeClr val="bg1"/>
              </a:solidFill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6557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3B113D-0DB5-EA1B-17CF-232F3207BB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CE6"/>
          </a:solidFill>
          <a:ln>
            <a:solidFill>
              <a:srgbClr val="0091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B32D6E-2496-E0C8-5211-3E3F657B8F37}"/>
              </a:ext>
            </a:extLst>
          </p:cNvPr>
          <p:cNvSpPr txBox="1">
            <a:spLocks/>
          </p:cNvSpPr>
          <p:nvPr/>
        </p:nvSpPr>
        <p:spPr>
          <a:xfrm>
            <a:off x="582798" y="2950571"/>
            <a:ext cx="11233150" cy="1235702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3600" kern="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Presentation of Descriptive Results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2AEB4A3-890D-8546-3849-4440F829F8BA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40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9506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2113EE-5301-1C4B-9648-1DDA52AF7091}"/>
              </a:ext>
            </a:extLst>
          </p:cNvPr>
          <p:cNvSpPr txBox="1"/>
          <p:nvPr/>
        </p:nvSpPr>
        <p:spPr>
          <a:xfrm>
            <a:off x="426720" y="152644"/>
            <a:ext cx="11338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Here, we present some examples of how you should present a result for descriptive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0739B-FFDC-FC8A-074E-F2C7D9365889}"/>
              </a:ext>
            </a:extLst>
          </p:cNvPr>
          <p:cNvSpPr txBox="1"/>
          <p:nvPr/>
        </p:nvSpPr>
        <p:spPr>
          <a:xfrm>
            <a:off x="426720" y="1310640"/>
            <a:ext cx="10469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 </a:t>
            </a:r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Suppose you conducted a survey among 654 respondents in living in the East Midlands. You want to determine the overall distribution of Lung Capacity Volume among these individuals.</a:t>
            </a:r>
          </a:p>
        </p:txBody>
      </p:sp>
      <p:pic>
        <p:nvPicPr>
          <p:cNvPr id="6" name="Picture 5" descr="Graphical user interface, application&#10;&#10;Description automatically generated with medium confidence">
            <a:extLst>
              <a:ext uri="{FF2B5EF4-FFF2-40B4-BE49-F238E27FC236}">
                <a16:creationId xmlns:a16="http://schemas.microsoft.com/office/drawing/2014/main" id="{A1FFA8A7-52BD-B8DA-5EEE-DFD08D6D8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34" y="2646222"/>
            <a:ext cx="10563334" cy="405913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0A3CFF-807C-43BB-3998-FB1FC734B384}"/>
              </a:ext>
            </a:extLst>
          </p:cNvPr>
          <p:cNvSpPr/>
          <p:nvPr/>
        </p:nvSpPr>
        <p:spPr>
          <a:xfrm>
            <a:off x="426720" y="1242721"/>
            <a:ext cx="10881360" cy="54626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7EED3A5-9FF9-1D37-5660-985E0BE60A2D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41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713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FACF82-6D09-C8C0-B7A2-72B226EA709F}"/>
              </a:ext>
            </a:extLst>
          </p:cNvPr>
          <p:cNvSpPr txBox="1"/>
          <p:nvPr/>
        </p:nvSpPr>
        <p:spPr>
          <a:xfrm>
            <a:off x="548640" y="1432560"/>
            <a:ext cx="103327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3.124, 3.172, 3.160, 2.674, 3.685, 5.008, 3.757, 2.245, 3.961, 3.826, 2.806, 3.205, 4.579, 4.354, 4.774, 3.796, 2.416, 3.634, 5.056, 5.812, 2.200, 1.768, 0.517, 5.734, …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514E68-98B7-3037-889C-C8BF2F6C01A5}"/>
              </a:ext>
            </a:extLst>
          </p:cNvPr>
          <p:cNvSpPr txBox="1"/>
          <p:nvPr/>
        </p:nvSpPr>
        <p:spPr>
          <a:xfrm>
            <a:off x="29273" y="22903"/>
            <a:ext cx="11920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 example show the </a:t>
            </a:r>
            <a:r>
              <a:rPr lang="en-GB" sz="2000" b="1" dirty="0">
                <a:highlight>
                  <a:srgbClr val="80808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overall distribution</a:t>
            </a:r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a dependent variable that is continuous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73608-97AA-2B61-C782-D90CBF4572FB}"/>
              </a:ext>
            </a:extLst>
          </p:cNvPr>
          <p:cNvSpPr txBox="1"/>
          <p:nvPr/>
        </p:nvSpPr>
        <p:spPr>
          <a:xfrm>
            <a:off x="548640" y="904956"/>
            <a:ext cx="4910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Data for LCV, 654 response: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2DADE-BAE5-EC30-E9FE-E2D98FB40614}"/>
              </a:ext>
            </a:extLst>
          </p:cNvPr>
          <p:cNvSpPr txBox="1"/>
          <p:nvPr/>
        </p:nvSpPr>
        <p:spPr>
          <a:xfrm>
            <a:off x="548640" y="3255616"/>
            <a:ext cx="10332720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Full interpretation: </a:t>
            </a:r>
            <a:r>
              <a:rPr lang="en-US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overall mean LCV among the 654 respondents from East Midlands was 5.91 litres (with SD of ±2.60) with the following quantiles being: Median = 5.64; IQRs 3.94 to 7.35. The lower observed LCV was 0.37 and the highest was 15.37.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endParaRPr lang="en-GB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422AC-EA3B-61D3-5931-8A62927DCC82}"/>
              </a:ext>
            </a:extLst>
          </p:cNvPr>
          <p:cNvSpPr txBox="1"/>
          <p:nvPr/>
        </p:nvSpPr>
        <p:spPr>
          <a:xfrm>
            <a:off x="548640" y="5306713"/>
            <a:ext cx="5288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need to worry about presenting any of this in a table etc. Just provide a direct interpretation like above.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F18E4D-2052-89B6-E783-2A20EDB4FFB3}"/>
              </a:ext>
            </a:extLst>
          </p:cNvPr>
          <p:cNvSpPr txBox="1"/>
          <p:nvPr/>
        </p:nvSpPr>
        <p:spPr>
          <a:xfrm>
            <a:off x="6141720" y="5331247"/>
            <a:ext cx="5288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 a table when you have to provide several summary estimates on the fly, or summaries estimates broken down by several other categorical variables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235CE31-CB68-856C-B006-C5C7F94AF354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42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0244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63C8FEF-636A-3C94-955B-C3EA785DD889}"/>
              </a:ext>
            </a:extLst>
          </p:cNvPr>
          <p:cNvSpPr txBox="1"/>
          <p:nvPr/>
        </p:nvSpPr>
        <p:spPr>
          <a:xfrm>
            <a:off x="47131" y="63963"/>
            <a:ext cx="1192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 example of a table showing the </a:t>
            </a:r>
            <a:r>
              <a:rPr lang="en-GB" sz="2000" b="1" dirty="0">
                <a:highlight>
                  <a:srgbClr val="80808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overall breakdown </a:t>
            </a:r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a dependent variable that is continuous by various categorical attributes that are treated as independent variables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9973A0-DB86-D5B1-3112-871DFE7F92D7}"/>
              </a:ext>
            </a:extLst>
          </p:cNvPr>
          <p:cNvSpPr txBox="1"/>
          <p:nvPr/>
        </p:nvSpPr>
        <p:spPr>
          <a:xfrm>
            <a:off x="900360" y="1140687"/>
            <a:ext cx="9829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Table 1: Shows a descriptive breakdown (by characteristics)of the lung capacity function (i.e., volume) among 654 respondents in the East Midlands.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BF1D39-F9B3-58CA-B787-FA588D06603D}"/>
              </a:ext>
            </a:extLst>
          </p:cNvPr>
          <p:cNvSpPr/>
          <p:nvPr/>
        </p:nvSpPr>
        <p:spPr>
          <a:xfrm>
            <a:off x="702240" y="1074607"/>
            <a:ext cx="10438200" cy="408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773144-E4F6-9A1D-856C-D797CB4A4B1F}"/>
              </a:ext>
            </a:extLst>
          </p:cNvPr>
          <p:cNvSpPr txBox="1"/>
          <p:nvPr/>
        </p:nvSpPr>
        <p:spPr>
          <a:xfrm>
            <a:off x="47131" y="5716819"/>
            <a:ext cx="11352600" cy="107721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terms of gender - overall, men on average have a higher LCV than women [mean: 6.44 (±3.011) vs. 5.35 (±1.937)]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terms of age group - those in the lowest age group on average have higher LCV compared to the other age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Those who live in an area that’s high land have higher LCV than Low landers [mean: 7.83 (±2.25) vs. 5.7 (±2.55)]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C2F8990D-2EB4-B9B3-1120-5DD0DC41C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59" y="1787017"/>
            <a:ext cx="9994539" cy="3178387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B1FA469-6FBD-7DDC-BCEF-F7F2B69908FB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43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2167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63C8FEF-636A-3C94-955B-C3EA785DD889}"/>
              </a:ext>
            </a:extLst>
          </p:cNvPr>
          <p:cNvSpPr txBox="1"/>
          <p:nvPr/>
        </p:nvSpPr>
        <p:spPr>
          <a:xfrm>
            <a:off x="47131" y="63963"/>
            <a:ext cx="1192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 example of a table showing the overall distribution of a dependent variable that is continuous across other characteristics </a:t>
            </a:r>
            <a:r>
              <a:rPr lang="en-GB" sz="2000" b="1" dirty="0">
                <a:highlight>
                  <a:srgbClr val="80808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grouped/stratified </a:t>
            </a:r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 a categorical attribute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9973A0-DB86-D5B1-3112-871DFE7F92D7}"/>
              </a:ext>
            </a:extLst>
          </p:cNvPr>
          <p:cNvSpPr txBox="1"/>
          <p:nvPr/>
        </p:nvSpPr>
        <p:spPr>
          <a:xfrm>
            <a:off x="299399" y="1009591"/>
            <a:ext cx="11100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Table 2: Shows a descriptive analysis of the lung capacity function (i.e., volume) stratified by gender.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BF1D39-F9B3-58CA-B787-FA588D06603D}"/>
              </a:ext>
            </a:extLst>
          </p:cNvPr>
          <p:cNvSpPr/>
          <p:nvPr/>
        </p:nvSpPr>
        <p:spPr>
          <a:xfrm>
            <a:off x="299400" y="983167"/>
            <a:ext cx="11352600" cy="29030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773144-E4F6-9A1D-856C-D797CB4A4B1F}"/>
              </a:ext>
            </a:extLst>
          </p:cNvPr>
          <p:cNvSpPr txBox="1"/>
          <p:nvPr/>
        </p:nvSpPr>
        <p:spPr>
          <a:xfrm>
            <a:off x="299400" y="4316783"/>
            <a:ext cx="11352600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 note on interpretation (should be comparative)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sz="1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 can provide a descriptive interpretation that is gender-specific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sz="1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 can also do a descriptive cross-comparisons to compare the magnitude in differences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sz="1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 can also do checks for dose-response relationships – e.g., altitude from low --&gt; high shows LCV increase; age groups, from lowest to highest, shows (weirdly) LCV increasing.</a:t>
            </a:r>
          </a:p>
          <a:p>
            <a:endParaRPr lang="en-GB" sz="1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DB9C8636-C091-22CD-B561-B201B5B3D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91" y="1569721"/>
            <a:ext cx="11005639" cy="20811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5F5C0E3-79AD-AA7C-4BF2-C7DDCB6A365C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44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0474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215D7E-E013-8202-B95C-E27B3798632E}"/>
              </a:ext>
            </a:extLst>
          </p:cNvPr>
          <p:cNvSpPr txBox="1"/>
          <p:nvPr/>
        </p:nvSpPr>
        <p:spPr>
          <a:xfrm>
            <a:off x="47131" y="63963"/>
            <a:ext cx="11920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 of tables [1]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B2E45F-D5AF-78BC-4446-81C1C40D36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6380" y="3853119"/>
            <a:ext cx="7397668" cy="1989211"/>
          </a:xfrm>
          <a:prstGeom prst="rect">
            <a:avLst/>
          </a:prstGeom>
        </p:spPr>
      </p:pic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E01E2EE0-884B-FB16-5C96-81EB4956B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0" y="863089"/>
            <a:ext cx="7397668" cy="235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15179A-235E-A1CC-8CF9-CD7B551F8D5A}"/>
              </a:ext>
            </a:extLst>
          </p:cNvPr>
          <p:cNvSpPr txBox="1"/>
          <p:nvPr/>
        </p:nvSpPr>
        <p:spPr>
          <a:xfrm>
            <a:off x="261620" y="502266"/>
            <a:ext cx="7282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Table 2: Shows a descriptive analysis of the lung capacity function (i.e., volume) stratified by gender. Data is from among 654 respondents from the East Midlands.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8E860-2F4E-8320-DC51-2E84AC35318D}"/>
              </a:ext>
            </a:extLst>
          </p:cNvPr>
          <p:cNvSpPr txBox="1"/>
          <p:nvPr/>
        </p:nvSpPr>
        <p:spPr>
          <a:xfrm>
            <a:off x="7938629" y="716907"/>
            <a:ext cx="4149105" cy="230832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Best Standards: </a:t>
            </a:r>
          </a:p>
          <a:p>
            <a:endParaRPr lang="en-GB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Fully formatted table, with table legends which looks great, and its of the standards that is considered publication-worthy. This type will yield you full marks i.e., correct results and show an eye details.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CF63F-22DD-3C72-81B6-1E7B96F725DE}"/>
              </a:ext>
            </a:extLst>
          </p:cNvPr>
          <p:cNvSpPr txBox="1"/>
          <p:nvPr/>
        </p:nvSpPr>
        <p:spPr>
          <a:xfrm>
            <a:off x="7938629" y="3278065"/>
            <a:ext cx="4149105" cy="31393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Normal Standards: </a:t>
            </a:r>
          </a:p>
          <a:p>
            <a:endParaRPr lang="en-GB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Partially formatted table, with no table legends which looks rudimentary. No way near considered publication-worthy (i.e., in a report, research article, thesis etc.). The marker will be like “meh”… but if s/he (i.e., marker) is pissed-off or woke up on the wrong side of the bed, they may deduct marks.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CCF28-83D8-9630-3D51-1DCB8F665242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45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9616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0A5C8E-FEB1-D264-54AF-28DCB2296494}"/>
              </a:ext>
            </a:extLst>
          </p:cNvPr>
          <p:cNvSpPr txBox="1"/>
          <p:nvPr/>
        </p:nvSpPr>
        <p:spPr>
          <a:xfrm>
            <a:off x="47131" y="63963"/>
            <a:ext cx="11920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 of tables [2]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1DE484-88E1-6269-C955-8A41DB62E722}"/>
              </a:ext>
            </a:extLst>
          </p:cNvPr>
          <p:cNvSpPr txBox="1"/>
          <p:nvPr/>
        </p:nvSpPr>
        <p:spPr>
          <a:xfrm>
            <a:off x="8168640" y="1087837"/>
            <a:ext cx="3688080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Very bad standards: </a:t>
            </a:r>
          </a:p>
          <a:p>
            <a:endParaRPr lang="en-GB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Just a direct copy of the R console, not tabulated.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A1E36F-BC66-0D43-2BD6-2F8B88B973DB}"/>
              </a:ext>
            </a:extLst>
          </p:cNvPr>
          <p:cNvSpPr txBox="1"/>
          <p:nvPr/>
        </p:nvSpPr>
        <p:spPr>
          <a:xfrm>
            <a:off x="167640" y="869120"/>
            <a:ext cx="82600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# A </a:t>
            </a:r>
            <a:r>
              <a:rPr lang="en-GB" sz="1600" dirty="0" err="1">
                <a:latin typeface="Courier" pitchFamily="2" charset="0"/>
              </a:rPr>
              <a:t>tibble</a:t>
            </a:r>
            <a:r>
              <a:rPr lang="en-GB" sz="1600" dirty="0">
                <a:latin typeface="Courier" pitchFamily="2" charset="0"/>
              </a:rPr>
              <a:t>: 2 × 9</a:t>
            </a:r>
          </a:p>
          <a:p>
            <a:r>
              <a:rPr lang="en-GB" sz="1600" dirty="0">
                <a:latin typeface="Courier" pitchFamily="2" charset="0"/>
              </a:rPr>
              <a:t>  gender     n  mean    </a:t>
            </a:r>
            <a:r>
              <a:rPr lang="en-GB" sz="1600" dirty="0" err="1">
                <a:latin typeface="Courier" pitchFamily="2" charset="0"/>
              </a:rPr>
              <a:t>sd</a:t>
            </a:r>
            <a:r>
              <a:rPr lang="en-GB" sz="1600" dirty="0">
                <a:latin typeface="Courier" pitchFamily="2" charset="0"/>
              </a:rPr>
              <a:t> median    q1    q3   min   max</a:t>
            </a:r>
          </a:p>
          <a:p>
            <a:r>
              <a:rPr lang="en-GB" sz="1600" dirty="0">
                <a:latin typeface="Courier" pitchFamily="2" charset="0"/>
              </a:rPr>
              <a:t>  &lt;chr&gt;  &lt;int&gt;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</a:t>
            </a:r>
          </a:p>
          <a:p>
            <a:r>
              <a:rPr lang="en-GB" sz="1600" dirty="0">
                <a:latin typeface="Courier" pitchFamily="2" charset="0"/>
              </a:rPr>
              <a:t>1 female   318  5.35  1.94   5.46  3.85  6.98 0.373  9.51</a:t>
            </a:r>
          </a:p>
          <a:p>
            <a:r>
              <a:rPr lang="en-GB" sz="1600" dirty="0">
                <a:latin typeface="Courier" pitchFamily="2" charset="0"/>
              </a:rPr>
              <a:t>2 male     336  6.44  3.01   5.82  4.03  8.60 0.388 15.4 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# A </a:t>
            </a:r>
            <a:r>
              <a:rPr lang="en-GB" sz="1600" dirty="0" err="1">
                <a:latin typeface="Courier" pitchFamily="2" charset="0"/>
              </a:rPr>
              <a:t>tibble</a:t>
            </a:r>
            <a:r>
              <a:rPr lang="en-GB" sz="1600" dirty="0">
                <a:latin typeface="Courier" pitchFamily="2" charset="0"/>
              </a:rPr>
              <a:t>: 3 × 9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agegroup</a:t>
            </a:r>
            <a:r>
              <a:rPr lang="en-GB" sz="1600" dirty="0">
                <a:latin typeface="Courier" pitchFamily="2" charset="0"/>
              </a:rPr>
              <a:t>        n  mean    </a:t>
            </a:r>
            <a:r>
              <a:rPr lang="en-GB" sz="1600" dirty="0" err="1">
                <a:latin typeface="Courier" pitchFamily="2" charset="0"/>
              </a:rPr>
              <a:t>sd</a:t>
            </a:r>
            <a:r>
              <a:rPr lang="en-GB" sz="1600" dirty="0">
                <a:latin typeface="Courier" pitchFamily="2" charset="0"/>
              </a:rPr>
              <a:t> median    q1    q3   min   max</a:t>
            </a:r>
          </a:p>
          <a:p>
            <a:r>
              <a:rPr lang="en-GB" sz="1600" dirty="0">
                <a:latin typeface="Courier" pitchFamily="2" charset="0"/>
              </a:rPr>
              <a:t>  &lt;chr&gt;       &lt;int&gt;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</a:t>
            </a:r>
          </a:p>
          <a:p>
            <a:r>
              <a:rPr lang="en-GB" sz="1600" dirty="0">
                <a:latin typeface="Courier" pitchFamily="2" charset="0"/>
              </a:rPr>
              <a:t>1 &lt;55 years     130  3.07  1.04   3.06  2.42  3.63 0.373  5.73</a:t>
            </a:r>
          </a:p>
          <a:p>
            <a:r>
              <a:rPr lang="en-GB" sz="1600" dirty="0">
                <a:latin typeface="Courier" pitchFamily="2" charset="0"/>
              </a:rPr>
              <a:t>2 55-59 years   407  5.99  1.98   5.76  4.57  7.15 1.88  13.7 </a:t>
            </a:r>
          </a:p>
          <a:p>
            <a:r>
              <a:rPr lang="en-GB" sz="1600" dirty="0">
                <a:latin typeface="Courier" pitchFamily="2" charset="0"/>
              </a:rPr>
              <a:t>3 60+ years     117  8.80  2.39   8.56  7.17 10.7  4.59  15.4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# A </a:t>
            </a:r>
            <a:r>
              <a:rPr lang="en-GB" sz="1600" dirty="0" err="1">
                <a:latin typeface="Courier" pitchFamily="2" charset="0"/>
              </a:rPr>
              <a:t>tibble</a:t>
            </a:r>
            <a:r>
              <a:rPr lang="en-GB" sz="1600" dirty="0">
                <a:latin typeface="Courier" pitchFamily="2" charset="0"/>
              </a:rPr>
              <a:t>: 2 × 9</a:t>
            </a:r>
          </a:p>
          <a:p>
            <a:r>
              <a:rPr lang="en-GB" sz="1600" dirty="0">
                <a:latin typeface="Courier" pitchFamily="2" charset="0"/>
              </a:rPr>
              <a:t>  altitude      n  mean    </a:t>
            </a:r>
            <a:r>
              <a:rPr lang="en-GB" sz="1600" dirty="0" err="1">
                <a:latin typeface="Courier" pitchFamily="2" charset="0"/>
              </a:rPr>
              <a:t>sd</a:t>
            </a:r>
            <a:r>
              <a:rPr lang="en-GB" sz="1600" dirty="0">
                <a:latin typeface="Courier" pitchFamily="2" charset="0"/>
              </a:rPr>
              <a:t> median    q1    q3   min   max</a:t>
            </a:r>
          </a:p>
          <a:p>
            <a:r>
              <a:rPr lang="en-GB" sz="1600" dirty="0">
                <a:latin typeface="Courier" pitchFamily="2" charset="0"/>
              </a:rPr>
              <a:t>  &lt;chr&gt;     &lt;int&gt;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 &lt;</a:t>
            </a:r>
            <a:r>
              <a:rPr lang="en-GB" sz="1600" dirty="0" err="1">
                <a:latin typeface="Courier" pitchFamily="2" charset="0"/>
              </a:rPr>
              <a:t>dbl</a:t>
            </a:r>
            <a:r>
              <a:rPr lang="en-GB" sz="1600" dirty="0">
                <a:latin typeface="Courier" pitchFamily="2" charset="0"/>
              </a:rPr>
              <a:t>&gt;</a:t>
            </a:r>
          </a:p>
          <a:p>
            <a:r>
              <a:rPr lang="en-GB" sz="1600" dirty="0">
                <a:latin typeface="Courier" pitchFamily="2" charset="0"/>
              </a:rPr>
              <a:t>1 high land    65  7.83  2.25   7.51  6.38  9.25 3.08   12.6</a:t>
            </a:r>
          </a:p>
          <a:p>
            <a:r>
              <a:rPr lang="en-GB" sz="1600" dirty="0">
                <a:latin typeface="Courier" pitchFamily="2" charset="0"/>
              </a:rPr>
              <a:t>2 low land    589  5.70  2.55   5.40  3.76  7.14 0.373  15.4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B238F1C-DC76-CF2A-0430-B6420EFAE22B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46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9776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0A5C8E-FEB1-D264-54AF-28DCB2296494}"/>
              </a:ext>
            </a:extLst>
          </p:cNvPr>
          <p:cNvSpPr txBox="1"/>
          <p:nvPr/>
        </p:nvSpPr>
        <p:spPr>
          <a:xfrm>
            <a:off x="47131" y="63963"/>
            <a:ext cx="11920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 of tables [3]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1DE484-88E1-6269-C955-8A41DB62E722}"/>
              </a:ext>
            </a:extLst>
          </p:cNvPr>
          <p:cNvSpPr txBox="1"/>
          <p:nvPr/>
        </p:nvSpPr>
        <p:spPr>
          <a:xfrm>
            <a:off x="8181787" y="1233353"/>
            <a:ext cx="3688080" cy="120032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Worst standards: </a:t>
            </a:r>
          </a:p>
          <a:p>
            <a:endParaRPr lang="en-GB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Even worse… just a snapshot of the R console.</a:t>
            </a:r>
          </a:p>
        </p:txBody>
      </p:sp>
      <p:pic>
        <p:nvPicPr>
          <p:cNvPr id="6" name="Picture 5" descr="A picture containing text, white, keyboard&#10;&#10;Description automatically generated">
            <a:extLst>
              <a:ext uri="{FF2B5EF4-FFF2-40B4-BE49-F238E27FC236}">
                <a16:creationId xmlns:a16="http://schemas.microsoft.com/office/drawing/2014/main" id="{B1C649D2-AEAC-973E-97F5-4B01AC26F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9" y="1233353"/>
            <a:ext cx="7941324" cy="359772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494D8-3FC7-A6B6-E620-399E69CD2233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47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4609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310937-9810-114F-983E-4800E87EE9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CE6"/>
          </a:solidFill>
          <a:ln>
            <a:solidFill>
              <a:srgbClr val="0091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76F1414-123F-A64D-A741-24140E769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98" y="2950571"/>
            <a:ext cx="11233150" cy="1296988"/>
          </a:xfrm>
        </p:spPr>
        <p:txBody>
          <a:bodyPr/>
          <a:lstStyle/>
          <a:p>
            <a:pPr lvl="0" algn="ctr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3600" b="1" kern="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Live demonstration time – Summary Statistics</a:t>
            </a:r>
            <a:br>
              <a:rPr lang="en-US" sz="3600" b="1" kern="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</a:br>
            <a:br>
              <a:rPr lang="en-US" sz="3600" b="1" kern="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</a:br>
            <a:r>
              <a:rPr lang="en-US" sz="3600" b="1" kern="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[CLICK: </a:t>
            </a:r>
            <a:r>
              <a:rPr lang="en-US" sz="3600" b="1" kern="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  <a:hlinkClick r:id="rId3"/>
              </a:rPr>
              <a:t>DOWNLOAD DATASET</a:t>
            </a:r>
            <a:r>
              <a:rPr lang="en-US" sz="3600" b="1" kern="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]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33556B5-AFD3-6705-3B0B-07705E4ACD4D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48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843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12FF62-244C-7A46-8D15-2D1E6ED7A701}"/>
              </a:ext>
            </a:extLst>
          </p:cNvPr>
          <p:cNvSpPr txBox="1"/>
          <p:nvPr/>
        </p:nvSpPr>
        <p:spPr>
          <a:xfrm>
            <a:off x="312785" y="2323508"/>
            <a:ext cx="11566425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3600" b="1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Any questions?</a:t>
            </a:r>
          </a:p>
          <a:p>
            <a:pPr algn="ctr"/>
            <a:endParaRPr lang="en-GB" sz="3600" b="1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D26486-2D98-5D24-CA61-485F364F66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50"/>
          <a:stretch/>
        </p:blipFill>
        <p:spPr>
          <a:xfrm>
            <a:off x="4616058" y="4041251"/>
            <a:ext cx="2959883" cy="1108264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5425F7B-CF70-FD27-D5D0-BC41BF603230}"/>
              </a:ext>
            </a:extLst>
          </p:cNvPr>
          <p:cNvSpPr txBox="1">
            <a:spLocks/>
          </p:cNvSpPr>
          <p:nvPr/>
        </p:nvSpPr>
        <p:spPr>
          <a:xfrm>
            <a:off x="11521440" y="6351230"/>
            <a:ext cx="566294" cy="48386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C21D7B2-F6DF-4749-BE48-6DFE0A2356E7}" type="slidenum">
              <a:rPr lang="en-US" altLang="x-none" b="1" smtClean="0"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pPr algn="ctr"/>
              <a:t>49</a:t>
            </a:fld>
            <a:endParaRPr lang="en-US" altLang="x-none" b="1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072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26488</TotalTime>
  <Words>5078</Words>
  <Application>Microsoft Macintosh PowerPoint</Application>
  <PresentationFormat>Widescreen</PresentationFormat>
  <Paragraphs>759</Paragraphs>
  <Slides>49</Slides>
  <Notes>23</Notes>
  <HiddenSlides>0</HiddenSlides>
  <MMClips>1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65" baseType="lpstr">
      <vt:lpstr>Arial</vt:lpstr>
      <vt:lpstr>Calibri</vt:lpstr>
      <vt:lpstr>Calibri Light</vt:lpstr>
      <vt:lpstr>Cambria Math</vt:lpstr>
      <vt:lpstr>Courier</vt:lpstr>
      <vt:lpstr>Helvetica Light</vt:lpstr>
      <vt:lpstr>Helvetica Neue</vt:lpstr>
      <vt:lpstr>Helvetica Neue Condensed Black</vt:lpstr>
      <vt:lpstr>Helvetica Neue Light</vt:lpstr>
      <vt:lpstr>Helvetica Neue Light</vt:lpstr>
      <vt:lpstr>Helvetica Neue Thin</vt:lpstr>
      <vt:lpstr>Helvetica Neue Thin</vt:lpstr>
      <vt:lpstr>Palatino</vt:lpstr>
      <vt:lpstr>Wingdings</vt:lpstr>
      <vt:lpstr>Office Theme</vt:lpstr>
      <vt:lpstr>Custom Design</vt:lpstr>
      <vt:lpstr>PowerPoint Presentation</vt:lpstr>
      <vt:lpstr>RECAP OF LAST WEEK</vt:lpstr>
      <vt:lpstr>Definition of Statistics?</vt:lpstr>
      <vt:lpstr>   </vt:lpstr>
      <vt:lpstr>PowerPoint Presentation</vt:lpstr>
      <vt:lpstr>PowerPoint Presentation</vt:lpstr>
      <vt:lpstr>Type of Variables</vt:lpstr>
      <vt:lpstr>PowerPoint Presentation</vt:lpstr>
      <vt:lpstr>PowerPoint Presentation</vt:lpstr>
      <vt:lpstr>PowerPoint Presentation</vt:lpstr>
      <vt:lpstr>Summary Statistics</vt:lpstr>
      <vt:lpstr>PowerPoint Presentation</vt:lpstr>
      <vt:lpstr>PowerPoint Presentation</vt:lpstr>
      <vt:lpstr>Lecture</vt:lpstr>
      <vt:lpstr>PowerPoint Presentation</vt:lpstr>
      <vt:lpstr>PowerPoint Presentation</vt:lpstr>
      <vt:lpstr>Mean</vt:lpstr>
      <vt:lpstr>Example of Summarising Numerical Data using Mean</vt:lpstr>
      <vt:lpstr>Median</vt:lpstr>
      <vt:lpstr>Example of Summarising Numerical Data using Median</vt:lpstr>
      <vt:lpstr>Things to know about the Mean &amp; Median [1]</vt:lpstr>
      <vt:lpstr>Median values are different when sample size contains an odd or even number of data points</vt:lpstr>
      <vt:lpstr>PowerPoint Presentation</vt:lpstr>
      <vt:lpstr>PowerPoint Presentation</vt:lpstr>
      <vt:lpstr>Range (minimum &amp; maximum) </vt:lpstr>
      <vt:lpstr>Quartiles and Interquartile range Divide a range of data into four equal parts 100/4 parts = 25%</vt:lpstr>
      <vt:lpstr>Example of Summarising data using quartiles and IQRs</vt:lpstr>
      <vt:lpstr>PowerPoint Presentation</vt:lpstr>
      <vt:lpstr>PowerPoint Presentation</vt:lpstr>
      <vt:lpstr>Variance</vt:lpstr>
      <vt:lpstr>Standard Deviation</vt:lpstr>
      <vt:lpstr>Example: Variance and Standard Deviation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Live demonstration time – Summary Statistics  [CLICK: DOWNLOAD DATASET]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Law</dc:creator>
  <cp:lastModifiedBy>Andreas Mastrosavvas</cp:lastModifiedBy>
  <cp:revision>306</cp:revision>
  <dcterms:created xsi:type="dcterms:W3CDTF">2020-11-19T14:47:11Z</dcterms:created>
  <dcterms:modified xsi:type="dcterms:W3CDTF">2026-01-19T17:20:01Z</dcterms:modified>
</cp:coreProperties>
</file>